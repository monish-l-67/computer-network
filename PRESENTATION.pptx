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  <p:sldMasterId id="2147483687" r:id="rId2"/>
    <p:sldMasterId id="2147483688" r:id="rId3"/>
    <p:sldMasterId id="2147483689" r:id="rId4"/>
  </p:sldMasterIdLst>
  <p:notesMasterIdLst>
    <p:notesMasterId r:id="rId43"/>
  </p:notesMasterIdLst>
  <p:sldIdLst>
    <p:sldId id="256" r:id="rId5"/>
    <p:sldId id="257" r:id="rId6"/>
    <p:sldId id="258" r:id="rId7"/>
    <p:sldId id="259" r:id="rId8"/>
    <p:sldId id="260" r:id="rId9"/>
    <p:sldId id="261" r:id="rId10"/>
    <p:sldId id="289" r:id="rId11"/>
    <p:sldId id="293" r:id="rId12"/>
    <p:sldId id="262" r:id="rId13"/>
    <p:sldId id="264" r:id="rId14"/>
    <p:sldId id="291" r:id="rId15"/>
    <p:sldId id="265" r:id="rId16"/>
    <p:sldId id="295" r:id="rId17"/>
    <p:sldId id="288" r:id="rId18"/>
    <p:sldId id="267" r:id="rId19"/>
    <p:sldId id="268" r:id="rId20"/>
    <p:sldId id="269" r:id="rId21"/>
    <p:sldId id="270" r:id="rId22"/>
    <p:sldId id="296" r:id="rId23"/>
    <p:sldId id="271" r:id="rId24"/>
    <p:sldId id="272" r:id="rId25"/>
    <p:sldId id="273" r:id="rId26"/>
    <p:sldId id="274" r:id="rId27"/>
    <p:sldId id="275" r:id="rId28"/>
    <p:sldId id="297" r:id="rId29"/>
    <p:sldId id="276" r:id="rId30"/>
    <p:sldId id="278" r:id="rId32"/>
    <p:sldId id="279" r:id="rId33"/>
    <p:sldId id="280" r:id="rId34"/>
    <p:sldId id="298" r:id="rId35"/>
    <p:sldId id="281" r:id="rId36"/>
    <p:sldId id="282" r:id="rId37"/>
    <p:sldId id="283" r:id="rId38"/>
    <p:sldId id="284" r:id="rId39"/>
    <p:sldId id="285" r:id="rId40"/>
    <p:sldId id="286" r:id="rId41"/>
    <p:sldId id="287" r:id="rId4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6EB50C-6590-4B16-979C-537E1E3344EA}" v="1250" dt="2026-08-28T18:37:15.611"/>
    <p1510:client id="{D8F3C94F-C737-4369-86EC-90CEA88ED064}" v="15" dt="2026-08-28T17:09:16.730"/>
    <p1510:client id="{DD1FBCDA-67DD-425E-A717-CD6D31EDD3CA}" v="91" dt="2026-08-28T17:38:55.301"/>
  </p1510:revLst>
</p1510:revInfo>
</file>

<file path=ppt/tableStyles.xml><?xml version="1.0" encoding="utf-8"?>
<a:tblStyleLst xmlns:a="http://schemas.openxmlformats.org/drawingml/2006/main" def="{90651C3A-4460-11DB-9652-00E08161165F}">
  <a:tblStyle styleId="{F1822104-C2AD-44E3-BFA6-AD98DCF618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66b4b0d2e_2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f66b4b0d2e_2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66b4b0d2e_4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3f66b4b0d2e_4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66b4b0d2e_4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3f66b4b0d2e_4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66b4b0d2e_4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3f66b4b0d2e_4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66b4b0d2e_4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g3f66b4b0d2e_4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66b4b0d2e_4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g3f66b4b0d2e_4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f66b4b0d2e_4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g3f66b4b0d2e_4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66b4b0d2e_4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g3f66b4b0d2e_4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66b4b0d2e_4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g3f66b4b0d2e_4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f66b4b0d2e_4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g3f66b4b0d2e_4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66b4b0d2e_4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g3f66b4b0d2e_4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f66b4b0d2e_4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g3f66b4b0d2e_4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f66b4b0d2e_4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g3f66b4b0d2e_4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f66b4b0d2e_4_4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g3f66b4b0d2e_4_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f66b4b0d2e_4_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g3f66b4b0d2e_4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1893032" y="356854"/>
            <a:ext cx="5357936" cy="52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557685" y="1146049"/>
            <a:ext cx="4026218" cy="1299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1893032" y="356854"/>
            <a:ext cx="5357936" cy="52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893032" y="356854"/>
            <a:ext cx="5357936" cy="52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>
            <a:spLocks noGrp="1"/>
          </p:cNvSpPr>
          <p:nvPr>
            <p:ph type="dt" idx="10"/>
          </p:nvPr>
        </p:nvSpPr>
        <p:spPr>
          <a:xfrm>
            <a:off x="342543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ftr" idx="11"/>
          </p:nvPr>
        </p:nvSpPr>
        <p:spPr>
          <a:xfrm>
            <a:off x="2340712" y="4767263"/>
            <a:ext cx="216944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ldNum" idx="12"/>
          </p:nvPr>
        </p:nvSpPr>
        <p:spPr>
          <a:xfrm>
            <a:off x="4909786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ctrTitle"/>
          </p:nvPr>
        </p:nvSpPr>
        <p:spPr>
          <a:xfrm>
            <a:off x="513815" y="1597819"/>
            <a:ext cx="5823234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subTitle" idx="1"/>
          </p:nvPr>
        </p:nvSpPr>
        <p:spPr>
          <a:xfrm>
            <a:off x="1027630" y="2914650"/>
            <a:ext cx="4795605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t" anchorCtr="0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dt" idx="10"/>
          </p:nvPr>
        </p:nvSpPr>
        <p:spPr>
          <a:xfrm>
            <a:off x="342543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ftr" idx="11"/>
          </p:nvPr>
        </p:nvSpPr>
        <p:spPr>
          <a:xfrm>
            <a:off x="2340712" y="4767263"/>
            <a:ext cx="216944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sldNum" idx="12"/>
          </p:nvPr>
        </p:nvSpPr>
        <p:spPr>
          <a:xfrm>
            <a:off x="4909786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>
            <a:spLocks noGrp="1"/>
          </p:cNvSpPr>
          <p:nvPr>
            <p:ph type="title"/>
          </p:nvPr>
        </p:nvSpPr>
        <p:spPr>
          <a:xfrm>
            <a:off x="342543" y="205978"/>
            <a:ext cx="616577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body" idx="1"/>
          </p:nvPr>
        </p:nvSpPr>
        <p:spPr>
          <a:xfrm>
            <a:off x="342543" y="1200150"/>
            <a:ext cx="6165777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t" anchorCtr="0">
            <a:normAutofit/>
          </a:bodyPr>
          <a:lstStyle>
            <a:lvl1pPr marL="457200" lvl="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marL="914400" lvl="1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/>
            </a:lvl2pPr>
            <a:lvl3pPr marL="1371600" lvl="2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marL="1828800" lvl="3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/>
            </a:lvl4pPr>
            <a:lvl5pPr marL="2286000" lvl="4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5pPr>
            <a:lvl6pPr marL="2743200" lvl="5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marL="3200400" lvl="6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marL="3657600" lvl="7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marL="4114800" lvl="8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dt" idx="10"/>
          </p:nvPr>
        </p:nvSpPr>
        <p:spPr>
          <a:xfrm>
            <a:off x="342543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ftr" idx="11"/>
          </p:nvPr>
        </p:nvSpPr>
        <p:spPr>
          <a:xfrm>
            <a:off x="2340712" y="4767263"/>
            <a:ext cx="216944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sldNum" idx="12"/>
          </p:nvPr>
        </p:nvSpPr>
        <p:spPr>
          <a:xfrm>
            <a:off x="4909786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>
            <a:spLocks noGrp="1"/>
          </p:cNvSpPr>
          <p:nvPr>
            <p:ph type="title"/>
          </p:nvPr>
        </p:nvSpPr>
        <p:spPr>
          <a:xfrm>
            <a:off x="541171" y="3305175"/>
            <a:ext cx="5823234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body" idx="1"/>
          </p:nvPr>
        </p:nvSpPr>
        <p:spPr>
          <a:xfrm>
            <a:off x="541171" y="2180035"/>
            <a:ext cx="5823234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dt" idx="10"/>
          </p:nvPr>
        </p:nvSpPr>
        <p:spPr>
          <a:xfrm>
            <a:off x="342543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ftr" idx="11"/>
          </p:nvPr>
        </p:nvSpPr>
        <p:spPr>
          <a:xfrm>
            <a:off x="2340712" y="4767263"/>
            <a:ext cx="216944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3"/>
          <p:cNvSpPr txBox="1">
            <a:spLocks noGrp="1"/>
          </p:cNvSpPr>
          <p:nvPr>
            <p:ph type="sldNum" idx="12"/>
          </p:nvPr>
        </p:nvSpPr>
        <p:spPr>
          <a:xfrm>
            <a:off x="4909786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>
            <a:spLocks noGrp="1"/>
          </p:cNvSpPr>
          <p:nvPr>
            <p:ph type="title"/>
          </p:nvPr>
        </p:nvSpPr>
        <p:spPr>
          <a:xfrm>
            <a:off x="342543" y="205978"/>
            <a:ext cx="616577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body" idx="1"/>
          </p:nvPr>
        </p:nvSpPr>
        <p:spPr>
          <a:xfrm>
            <a:off x="342543" y="1200150"/>
            <a:ext cx="302579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marL="2286000" lvl="4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marL="2743200" lvl="5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marL="3200400" lvl="6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marL="3657600" lvl="7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marL="4114800" lvl="8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body" idx="2"/>
          </p:nvPr>
        </p:nvSpPr>
        <p:spPr>
          <a:xfrm>
            <a:off x="3482522" y="1200150"/>
            <a:ext cx="302579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marL="2286000" lvl="4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marL="2743200" lvl="5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marL="3200400" lvl="6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marL="3657600" lvl="7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marL="4114800" lvl="8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dt" idx="10"/>
          </p:nvPr>
        </p:nvSpPr>
        <p:spPr>
          <a:xfrm>
            <a:off x="342543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ftr" idx="11"/>
          </p:nvPr>
        </p:nvSpPr>
        <p:spPr>
          <a:xfrm>
            <a:off x="2340712" y="4767263"/>
            <a:ext cx="216944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4"/>
          <p:cNvSpPr txBox="1">
            <a:spLocks noGrp="1"/>
          </p:cNvSpPr>
          <p:nvPr>
            <p:ph type="sldNum" idx="12"/>
          </p:nvPr>
        </p:nvSpPr>
        <p:spPr>
          <a:xfrm>
            <a:off x="4909786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>
            <a:spLocks noGrp="1"/>
          </p:cNvSpPr>
          <p:nvPr>
            <p:ph type="title"/>
          </p:nvPr>
        </p:nvSpPr>
        <p:spPr>
          <a:xfrm>
            <a:off x="342543" y="205978"/>
            <a:ext cx="616577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5"/>
          <p:cNvSpPr txBox="1">
            <a:spLocks noGrp="1"/>
          </p:cNvSpPr>
          <p:nvPr>
            <p:ph type="body" idx="1"/>
          </p:nvPr>
        </p:nvSpPr>
        <p:spPr>
          <a:xfrm>
            <a:off x="342543" y="1151335"/>
            <a:ext cx="30269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body" idx="2"/>
          </p:nvPr>
        </p:nvSpPr>
        <p:spPr>
          <a:xfrm>
            <a:off x="342543" y="1631156"/>
            <a:ext cx="30269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body" idx="3"/>
          </p:nvPr>
        </p:nvSpPr>
        <p:spPr>
          <a:xfrm>
            <a:off x="3480144" y="1151335"/>
            <a:ext cx="3028177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body" idx="4"/>
          </p:nvPr>
        </p:nvSpPr>
        <p:spPr>
          <a:xfrm>
            <a:off x="3480144" y="1631156"/>
            <a:ext cx="3028177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25" name="Google Shape;125;p25"/>
          <p:cNvSpPr txBox="1">
            <a:spLocks noGrp="1"/>
          </p:cNvSpPr>
          <p:nvPr>
            <p:ph type="dt" idx="10"/>
          </p:nvPr>
        </p:nvSpPr>
        <p:spPr>
          <a:xfrm>
            <a:off x="342543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5"/>
          <p:cNvSpPr txBox="1">
            <a:spLocks noGrp="1"/>
          </p:cNvSpPr>
          <p:nvPr>
            <p:ph type="ftr" idx="11"/>
          </p:nvPr>
        </p:nvSpPr>
        <p:spPr>
          <a:xfrm>
            <a:off x="2340712" y="4767263"/>
            <a:ext cx="216944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sldNum" idx="12"/>
          </p:nvPr>
        </p:nvSpPr>
        <p:spPr>
          <a:xfrm>
            <a:off x="4909786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>
            <a:spLocks noGrp="1"/>
          </p:cNvSpPr>
          <p:nvPr>
            <p:ph type="title"/>
          </p:nvPr>
        </p:nvSpPr>
        <p:spPr>
          <a:xfrm>
            <a:off x="342543" y="205978"/>
            <a:ext cx="616577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dt" idx="10"/>
          </p:nvPr>
        </p:nvSpPr>
        <p:spPr>
          <a:xfrm>
            <a:off x="342543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6"/>
          <p:cNvSpPr txBox="1">
            <a:spLocks noGrp="1"/>
          </p:cNvSpPr>
          <p:nvPr>
            <p:ph type="ftr" idx="11"/>
          </p:nvPr>
        </p:nvSpPr>
        <p:spPr>
          <a:xfrm>
            <a:off x="2340712" y="4767263"/>
            <a:ext cx="216944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6"/>
          <p:cNvSpPr txBox="1">
            <a:spLocks noGrp="1"/>
          </p:cNvSpPr>
          <p:nvPr>
            <p:ph type="sldNum" idx="12"/>
          </p:nvPr>
        </p:nvSpPr>
        <p:spPr>
          <a:xfrm>
            <a:off x="4909786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>
            <a:spLocks noGrp="1"/>
          </p:cNvSpPr>
          <p:nvPr>
            <p:ph type="title"/>
          </p:nvPr>
        </p:nvSpPr>
        <p:spPr>
          <a:xfrm>
            <a:off x="342543" y="204788"/>
            <a:ext cx="2253887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7"/>
          <p:cNvSpPr txBox="1">
            <a:spLocks noGrp="1"/>
          </p:cNvSpPr>
          <p:nvPr>
            <p:ph type="body" idx="1"/>
          </p:nvPr>
        </p:nvSpPr>
        <p:spPr>
          <a:xfrm>
            <a:off x="2678497" y="204788"/>
            <a:ext cx="3829823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36" name="Google Shape;136;p27"/>
          <p:cNvSpPr txBox="1">
            <a:spLocks noGrp="1"/>
          </p:cNvSpPr>
          <p:nvPr>
            <p:ph type="body" idx="2"/>
          </p:nvPr>
        </p:nvSpPr>
        <p:spPr>
          <a:xfrm>
            <a:off x="342543" y="1076325"/>
            <a:ext cx="2253887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37" name="Google Shape;137;p27"/>
          <p:cNvSpPr txBox="1">
            <a:spLocks noGrp="1"/>
          </p:cNvSpPr>
          <p:nvPr>
            <p:ph type="dt" idx="10"/>
          </p:nvPr>
        </p:nvSpPr>
        <p:spPr>
          <a:xfrm>
            <a:off x="342543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7"/>
          <p:cNvSpPr txBox="1">
            <a:spLocks noGrp="1"/>
          </p:cNvSpPr>
          <p:nvPr>
            <p:ph type="ftr" idx="11"/>
          </p:nvPr>
        </p:nvSpPr>
        <p:spPr>
          <a:xfrm>
            <a:off x="2340712" y="4767263"/>
            <a:ext cx="216944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7"/>
          <p:cNvSpPr txBox="1">
            <a:spLocks noGrp="1"/>
          </p:cNvSpPr>
          <p:nvPr>
            <p:ph type="sldNum" idx="12"/>
          </p:nvPr>
        </p:nvSpPr>
        <p:spPr>
          <a:xfrm>
            <a:off x="4909786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>
            <a:spLocks noGrp="1"/>
          </p:cNvSpPr>
          <p:nvPr>
            <p:ph type="title"/>
          </p:nvPr>
        </p:nvSpPr>
        <p:spPr>
          <a:xfrm>
            <a:off x="1342817" y="3600450"/>
            <a:ext cx="4110518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8"/>
          <p:cNvSpPr>
            <a:spLocks noGrp="1"/>
          </p:cNvSpPr>
          <p:nvPr>
            <p:ph type="pic" idx="2"/>
          </p:nvPr>
        </p:nvSpPr>
        <p:spPr>
          <a:xfrm>
            <a:off x="1342817" y="459581"/>
            <a:ext cx="4110518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8"/>
          <p:cNvSpPr txBox="1">
            <a:spLocks noGrp="1"/>
          </p:cNvSpPr>
          <p:nvPr>
            <p:ph type="body" idx="1"/>
          </p:nvPr>
        </p:nvSpPr>
        <p:spPr>
          <a:xfrm>
            <a:off x="1342817" y="4025503"/>
            <a:ext cx="4110518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44" name="Google Shape;144;p28"/>
          <p:cNvSpPr txBox="1">
            <a:spLocks noGrp="1"/>
          </p:cNvSpPr>
          <p:nvPr>
            <p:ph type="dt" idx="10"/>
          </p:nvPr>
        </p:nvSpPr>
        <p:spPr>
          <a:xfrm>
            <a:off x="342543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ftr" idx="11"/>
          </p:nvPr>
        </p:nvSpPr>
        <p:spPr>
          <a:xfrm>
            <a:off x="2340712" y="4767263"/>
            <a:ext cx="216944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sldNum" idx="12"/>
          </p:nvPr>
        </p:nvSpPr>
        <p:spPr>
          <a:xfrm>
            <a:off x="4909786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>
            <a:spLocks noGrp="1"/>
          </p:cNvSpPr>
          <p:nvPr>
            <p:ph type="title"/>
          </p:nvPr>
        </p:nvSpPr>
        <p:spPr>
          <a:xfrm>
            <a:off x="342543" y="205978"/>
            <a:ext cx="616577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9"/>
          <p:cNvSpPr txBox="1">
            <a:spLocks noGrp="1"/>
          </p:cNvSpPr>
          <p:nvPr>
            <p:ph type="body" idx="1"/>
          </p:nvPr>
        </p:nvSpPr>
        <p:spPr>
          <a:xfrm rot="5400000">
            <a:off x="1728196" y="-185503"/>
            <a:ext cx="3394472" cy="6165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t" anchorCtr="0">
            <a:normAutofit/>
          </a:bodyPr>
          <a:lstStyle>
            <a:lvl1pPr marL="457200" lvl="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marL="914400" lvl="1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/>
            </a:lvl2pPr>
            <a:lvl3pPr marL="1371600" lvl="2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marL="1828800" lvl="3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/>
            </a:lvl4pPr>
            <a:lvl5pPr marL="2286000" lvl="4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5pPr>
            <a:lvl6pPr marL="2743200" lvl="5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marL="3200400" lvl="6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marL="3657600" lvl="7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marL="4114800" lvl="8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9"/>
          <p:cNvSpPr txBox="1">
            <a:spLocks noGrp="1"/>
          </p:cNvSpPr>
          <p:nvPr>
            <p:ph type="dt" idx="10"/>
          </p:nvPr>
        </p:nvSpPr>
        <p:spPr>
          <a:xfrm>
            <a:off x="342543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9"/>
          <p:cNvSpPr txBox="1">
            <a:spLocks noGrp="1"/>
          </p:cNvSpPr>
          <p:nvPr>
            <p:ph type="ftr" idx="11"/>
          </p:nvPr>
        </p:nvSpPr>
        <p:spPr>
          <a:xfrm>
            <a:off x="2340712" y="4767263"/>
            <a:ext cx="216944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sldNum" idx="12"/>
          </p:nvPr>
        </p:nvSpPr>
        <p:spPr>
          <a:xfrm>
            <a:off x="4909786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 rot="5400000">
            <a:off x="3543276" y="1629578"/>
            <a:ext cx="4388644" cy="154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0"/>
          <p:cNvSpPr txBox="1">
            <a:spLocks noGrp="1"/>
          </p:cNvSpPr>
          <p:nvPr>
            <p:ph type="body" idx="1"/>
          </p:nvPr>
        </p:nvSpPr>
        <p:spPr>
          <a:xfrm rot="5400000">
            <a:off x="403297" y="145224"/>
            <a:ext cx="4388644" cy="451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t" anchorCtr="0">
            <a:normAutofit/>
          </a:bodyPr>
          <a:lstStyle>
            <a:lvl1pPr marL="457200" lvl="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marL="914400" lvl="1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/>
            </a:lvl2pPr>
            <a:lvl3pPr marL="1371600" lvl="2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marL="1828800" lvl="3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/>
            </a:lvl4pPr>
            <a:lvl5pPr marL="2286000" lvl="4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5pPr>
            <a:lvl6pPr marL="2743200" lvl="5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marL="3200400" lvl="6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marL="3657600" lvl="7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marL="4114800" lvl="8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dt" idx="10"/>
          </p:nvPr>
        </p:nvSpPr>
        <p:spPr>
          <a:xfrm>
            <a:off x="342543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ftr" idx="11"/>
          </p:nvPr>
        </p:nvSpPr>
        <p:spPr>
          <a:xfrm>
            <a:off x="2340712" y="4767263"/>
            <a:ext cx="216944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sldNum" idx="12"/>
          </p:nvPr>
        </p:nvSpPr>
        <p:spPr>
          <a:xfrm>
            <a:off x="4909786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2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2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>
            <a:spLocks noGrp="1"/>
          </p:cNvSpPr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3"/>
          <p:cNvSpPr txBox="1"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33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3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3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4"/>
          <p:cNvSpPr txBox="1">
            <a:spLocks noGrp="1"/>
          </p:cNvSpPr>
          <p:nvPr>
            <p:ph type="body" idx="1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34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34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4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5"/>
          <p:cNvSpPr txBox="1">
            <a:spLocks noGrp="1"/>
          </p:cNvSpPr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35"/>
          <p:cNvSpPr txBox="1"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35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35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5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6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36"/>
          <p:cNvSpPr txBox="1">
            <a:spLocks noGrp="1"/>
          </p:cNvSpPr>
          <p:nvPr>
            <p:ph type="body" idx="1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90" name="Google Shape;190;p36"/>
          <p:cNvSpPr txBox="1">
            <a:spLocks noGrp="1"/>
          </p:cNvSpPr>
          <p:nvPr>
            <p:ph type="body" idx="2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91" name="Google Shape;191;p36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6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6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7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37"/>
          <p:cNvSpPr txBox="1"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97" name="Google Shape;197;p37"/>
          <p:cNvSpPr txBox="1">
            <a:spLocks noGrp="1"/>
          </p:cNvSpPr>
          <p:nvPr>
            <p:ph type="body" idx="2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98" name="Google Shape;198;p37"/>
          <p:cNvSpPr txBox="1">
            <a:spLocks noGrp="1"/>
          </p:cNvSpPr>
          <p:nvPr>
            <p:ph type="body" idx="3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99" name="Google Shape;199;p37"/>
          <p:cNvSpPr txBox="1">
            <a:spLocks noGrp="1"/>
          </p:cNvSpPr>
          <p:nvPr>
            <p:ph type="body" idx="4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200" name="Google Shape;200;p37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37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37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38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38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38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>
            <a:spLocks noGrp="1"/>
          </p:cNvSpPr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9"/>
          <p:cNvSpPr txBox="1">
            <a:spLocks noGrp="1"/>
          </p:cNvSpPr>
          <p:nvPr>
            <p:ph type="body" idx="1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11" name="Google Shape;211;p39"/>
          <p:cNvSpPr txBox="1">
            <a:spLocks noGrp="1"/>
          </p:cNvSpPr>
          <p:nvPr>
            <p:ph type="body" idx="2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212" name="Google Shape;212;p39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39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9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0"/>
          <p:cNvSpPr txBox="1"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40"/>
          <p:cNvSpPr>
            <a:spLocks noGrp="1"/>
          </p:cNvSpPr>
          <p:nvPr>
            <p:ph type="pic" idx="2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40"/>
          <p:cNvSpPr txBox="1">
            <a:spLocks noGrp="1"/>
          </p:cNvSpPr>
          <p:nvPr>
            <p:ph type="body" idx="1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219" name="Google Shape;219;p40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40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40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41"/>
          <p:cNvSpPr txBox="1">
            <a:spLocks noGrp="1"/>
          </p:cNvSpPr>
          <p:nvPr>
            <p:ph type="body" idx="1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41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41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41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 txBox="1">
            <a:spLocks noGrp="1"/>
          </p:cNvSpPr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42"/>
          <p:cNvSpPr txBox="1">
            <a:spLocks noGrp="1"/>
          </p:cNvSpPr>
          <p:nvPr>
            <p:ph type="body" idx="1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42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42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42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893032" y="356854"/>
            <a:ext cx="5357936" cy="52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557685" y="1146049"/>
            <a:ext cx="4026218" cy="1299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342543" y="205978"/>
            <a:ext cx="616577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1"/>
          </p:nvPr>
        </p:nvSpPr>
        <p:spPr>
          <a:xfrm>
            <a:off x="342543" y="1200150"/>
            <a:ext cx="6165777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t" anchorCtr="0">
            <a:normAutofit/>
          </a:bodyPr>
          <a:lstStyle>
            <a:lvl1pPr marL="457200" marR="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dt" idx="10"/>
          </p:nvPr>
        </p:nvSpPr>
        <p:spPr>
          <a:xfrm>
            <a:off x="342543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ftr" idx="11"/>
          </p:nvPr>
        </p:nvSpPr>
        <p:spPr>
          <a:xfrm>
            <a:off x="2340712" y="4767263"/>
            <a:ext cx="216944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sldNum" idx="12"/>
          </p:nvPr>
        </p:nvSpPr>
        <p:spPr>
          <a:xfrm>
            <a:off x="4909786" y="4767263"/>
            <a:ext cx="1598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61" name="Google Shape;161;p31"/>
          <p:cNvSpPr txBox="1">
            <a:spLocks noGrp="1"/>
          </p:cNvSpPr>
          <p:nvPr>
            <p:ph type="body" idx="1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2" name="Google Shape;162;p31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4" name="Google Shape;164;p31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7" Type="http://schemas.openxmlformats.org/officeDocument/2006/relationships/image" Target="../media/image2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jpg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3" Type="http://schemas.openxmlformats.org/officeDocument/2006/relationships/image" Target="../media/image2.jp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jpg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Relationship Id="rId3" Type="http://schemas.openxmlformats.org/officeDocument/2006/relationships/image" Target="../media/image2.jpg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3" Type="http://schemas.openxmlformats.org/officeDocument/2006/relationships/image" Target="../media/image2.jp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jp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jpg"/></Relationships>
</file>

<file path=ppt/slides/_rels/slide1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3" Type="http://schemas.openxmlformats.org/officeDocument/2006/relationships/image" Target="../media/image2.jp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Relationship Id="rId7" Type="http://schemas.openxmlformats.org/officeDocument/2006/relationships/image" Target="../media/image2.jpg"/></Relationships>
</file>

<file path=ppt/slides/_rels/slide1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3" Type="http://schemas.openxmlformats.org/officeDocument/2006/relationships/image" Target="../media/image2.jpg"/></Relationships>
</file>

<file path=ppt/slides/_rels/slide1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3" Type="http://schemas.openxmlformats.org/officeDocument/2006/relationships/image" Target="../media/image2.jpg"/></Relationships>
</file>

<file path=ppt/slides/_rels/slide19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8.xml"/><Relationship Id="rId3" Type="http://schemas.openxmlformats.org/officeDocument/2006/relationships/image" Target="../media/image2.jpg"/></Relationships>
</file>

<file path=ppt/slides/_rels/slide20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3" Type="http://schemas.openxmlformats.org/officeDocument/2006/relationships/image" Target="../media/image2.jpg"/></Relationships>
</file>

<file path=ppt/slides/_rels/slide2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3" Type="http://schemas.openxmlformats.org/officeDocument/2006/relationships/image" Target="../media/image2.jpg"/></Relationships>
</file>

<file path=ppt/slides/_rels/slide2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3" Type="http://schemas.openxmlformats.org/officeDocument/2006/relationships/image" Target="../media/image2.jpg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Relationship Id="rId7" Type="http://schemas.openxmlformats.org/officeDocument/2006/relationships/image" Target="../media/image2.jpg"/></Relationships>
</file>

<file path=ppt/slides/_rels/slide2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3" Type="http://schemas.openxmlformats.org/officeDocument/2006/relationships/image" Target="../media/image2.jpg"/></Relationships>
</file>

<file path=ppt/slides/_rels/slide25.xml.rels><?xml version="1.0" encoding="UTF-8" standalone="yes"?>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Relationship Id="rId3" Type="http://schemas.openxmlformats.org/officeDocument/2006/relationships/image" Target="../media/image2.jpg"/></Relationships>
</file>

<file path=ppt/slides/_rels/slide2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3" Type="http://schemas.openxmlformats.org/officeDocument/2006/relationships/image" Target="../media/image2.jpg"/></Relationships>
</file>

<file path=ppt/slides/_rels/slide2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3" Type="http://schemas.openxmlformats.org/officeDocument/2006/relationships/image" Target="../media/image2.jpg"/></Relationships>
</file>

<file path=ppt/slides/_rels/slide29.xml.rels><?xml version="1.0" encoding="UTF-8" standalone="yes"?>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Relationship Id="rId6" Type="http://schemas.openxmlformats.org/officeDocument/2006/relationships/image" Target="../media/image2.jpg"/></Relationships>
</file>

<file path=ppt/slides/_rels/slide30.xml.rels><?xml version="1.0" encoding="UTF-8" standalone="yes"?>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7.xml"/><Relationship Id="rId3" Type="http://schemas.openxmlformats.org/officeDocument/2006/relationships/image" Target="../media/image2.jpg"/></Relationships>
</file>

<file path=ppt/slides/_rels/slide31.xml.rels><?xml version="1.0" encoding="UTF-8" standalone="yes"?>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8.xml"/><Relationship Id="rId3" Type="http://schemas.openxmlformats.org/officeDocument/2006/relationships/image" Target="../media/image2.jpg"/></Relationships>
</file>

<file path=ppt/slides/_rels/slide32.xml.rels><?xml version="1.0" encoding="UTF-8" standalone="yes"?>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7.xml"/><Relationship Id="rId3" Type="http://schemas.openxmlformats.org/officeDocument/2006/relationships/image" Target="../media/image2.jp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jp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jp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jp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3" descr="$PPTXTitle"/>
          <p:cNvSpPr txBox="1">
            <a:spLocks noGrp="1"/>
          </p:cNvSpPr>
          <p:nvPr>
            <p:ph type="title"/>
          </p:nvPr>
        </p:nvSpPr>
        <p:spPr>
          <a:xfrm>
            <a:off x="399225" y="1360177"/>
            <a:ext cx="8349000" cy="932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For a network node under variable load (P), can a Priority Queuing model (I), rather than a single FIFO queue (C), improve QoS measures like waiting time and throughput (O)?</a:t>
            </a:r>
            <a:endParaRPr lang="en-US" sz="2000" b="1"/>
          </a:p>
        </p:txBody>
      </p:sp>
      <p:sp>
        <p:nvSpPr>
          <p:cNvPr id="239" name="Google Shape;239;p43"/>
          <p:cNvSpPr txBox="1"/>
          <p:nvPr/>
        </p:nvSpPr>
        <p:spPr>
          <a:xfrm>
            <a:off x="2551299" y="2468647"/>
            <a:ext cx="4009200" cy="2285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ctr" anchorCtr="0">
            <a:spAutoFit/>
          </a:bodyPr>
          <a:lstStyle/>
          <a:p>
            <a:pPr marL="0" lvl="0" indent="0" algn="ctr" rtl="0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  <a:endParaRPr lang="en-US" sz="18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14285"/>
              </a:lnSpc>
              <a:spcBef>
                <a:spcPts val="100"/>
              </a:spcBef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Keshav     [1925260042]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2700" algn="ctr">
              <a:lnSpc>
                <a:spcPct val="112857"/>
              </a:lnSpc>
              <a:spcBef>
                <a:spcPts val="100"/>
              </a:spcBef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Monish L     [1972260035]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2700" algn="ctr">
              <a:lnSpc>
                <a:spcPct val="112857"/>
              </a:lnSpc>
              <a:spcBef>
                <a:spcPts val="100"/>
              </a:spcBef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Deepak R       [192460153]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2700" algn="ctr">
              <a:lnSpc>
                <a:spcPct val="112857"/>
              </a:lnSpc>
              <a:spcBef>
                <a:spcPts val="100"/>
              </a:spcBef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Surender S   [1924260070]</a:t>
            </a:r>
            <a:endParaRPr sz="1800" b="1">
              <a:solidFill>
                <a:schemeClr val="dk1"/>
              </a:solidFill>
            </a:endParaRPr>
          </a:p>
          <a:p>
            <a:pPr marL="12700" algn="ctr">
              <a:lnSpc>
                <a:spcPct val="112857"/>
              </a:lnSpc>
              <a:spcBef>
                <a:spcPts val="100"/>
              </a:spcBef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CSA0702 – Computer Network </a:t>
            </a:r>
            <a:endParaRPr lang="en" sz="18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2700" marR="0" lvl="0" indent="0" algn="ctr" rtl="0">
              <a:lnSpc>
                <a:spcPct val="112857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Date: 29/08/2026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40" name="Google Shape;240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014" y="143719"/>
            <a:ext cx="851337" cy="100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85673" y="143719"/>
            <a:ext cx="1140085" cy="1007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in Packet Networks &amp; the Case for Smarter Queuing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CSA0702 — Computer Network Capstone Project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" y="1627632"/>
            <a:ext cx="8229600" cy="18288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874520"/>
            <a:ext cx="50749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packet that crosses a router, switch, or gateway competes for a finite service resource. When arrival rate and burstiness rise, packets queue, delay grows, and Quality of Service (QoS) for latency-sensitive traffic such as voice degrades. The traditional single FIFO queue treats all traffic identically and offers no mechanism to protect time-sensitive flows or reveal where congestion actually builds up.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365760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capstone investigates whether queuing-theory-based models — priority scheduling, multi-stage (tandem) queues, and multi-server (M/M/c) systems — can better capture congestion and improve QoS measures than a single FIFO queue, through four linked sub-studies.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06440" y="1874520"/>
            <a:ext cx="2880360" cy="3017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Modules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245059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450592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Single-Queue vs Network-of-Queues — Monish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0" y="304495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3044952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FIFO vs Priority Queuing — Deepak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363931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3639312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Arrival Rate on Queue Length — Keshav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423367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4233672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M/M/c vs M/M/1 — Surender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Sets Out to 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8229600" cy="18288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46304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463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1389888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congestion realistically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13048" y="1389888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 a network node — and a chain of nodes — as queuing systems (M/M/1, M/M/c, tandem networks) instead of a single black-box delay figure.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212140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2121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2048256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scheduling disciplines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13048" y="2048256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FIFO against Priority Queuing to see whether class-aware scheduling reduces delay for time-sensitive (voice) traffic.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2779776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7797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706624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the load–congestion relationship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813048" y="2706624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arrival rate λ against fixed service rate μ and observe how queue length and utilization (ρ = λ/μ) respond.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343814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34381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3364992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multi-server pooling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13048" y="3364992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whether an M/M/c pooled-server model reduces average waiting time versus an equivalent-capacity M/M/1 system.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" y="4096512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40965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402336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findings to transport-layer QoS (CO4)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813048" y="4023360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per-hop delay, jitter, and congestion location to practical mechanisms — congestion control, scheduling, and RTT estimation.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in Queuing Theory &amp; Network QoS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8229600" cy="18288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444752"/>
            <a:ext cx="3950208" cy="1417320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72768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M/M/1 Queuing Theory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76656" y="1920240"/>
            <a:ext cx="358444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single-server queue with Poisson arrivals and exponential service (Kleinrock). Provides Wq = λ/[μ(μ−λ)] and forms the baseline model used across all four modules.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444752"/>
            <a:ext cx="3950208" cy="1417320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9" name="Text 7"/>
          <p:cNvSpPr/>
          <p:nvPr/>
        </p:nvSpPr>
        <p:spPr>
          <a:xfrm>
            <a:off x="4773168" y="1572768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 Networks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73168" y="1920240"/>
            <a:ext cx="358444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Jackson's theorem shows that a network of connected M/M/1 stages behaves, under Poisson-preserving conditions, as if each stage were independently M/M/1 — the theoretical basis for the tandem-queue module.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3026664"/>
            <a:ext cx="3950208" cy="1417320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3154680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Queuing &amp; Scheduling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6656" y="3502152"/>
            <a:ext cx="358444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networking literature (e.g. Cisco QoS scheduling models) shows class-based scheduling can protect delay-sensitive flows at the cost of fairness to lower-priority traffic — motivating the FIFO vs Priority comparison.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3026664"/>
            <a:ext cx="3950208" cy="1417320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15" name="Text 13"/>
          <p:cNvSpPr/>
          <p:nvPr/>
        </p:nvSpPr>
        <p:spPr>
          <a:xfrm>
            <a:off x="4773168" y="3154680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Multi-Server (M/M/c) Systems &amp; Erlang C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73168" y="3502152"/>
            <a:ext cx="358444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Erlang's multi-server formulas describe how pooling c parallel servers reduces the probability of queuing (Erlang-C) and improves waiting time over equivalent separate single-server systems.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Simulation Approach, Applied to All Four Modules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75488" y="1298448"/>
            <a:ext cx="8229600" cy="18288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572768"/>
            <a:ext cx="4572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545336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model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538728" y="1545336"/>
            <a:ext cx="5166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each module's queuing model — single queue, tandem network, priority scheduler, or M/M/c — with explicit λ, μ, and c parameters.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" y="2194560"/>
            <a:ext cx="4572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167128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traffic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38728" y="2167128"/>
            <a:ext cx="5166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Poisson packet arrivals and exponential service times in MATLAB / OMNeT++, holding controlled variables (packet size, duration, seed) identical across compared models.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" y="2816352"/>
            <a:ext cx="4572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816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788920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&amp; measure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38728" y="2788920"/>
            <a:ext cx="5166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arrival, service-start, and departure timestamps to compute waiting time, end-to-end delay, queue length, and throughput for each run.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" y="3438144"/>
            <a:ext cx="4572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410712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against theory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38728" y="3410712"/>
            <a:ext cx="5166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simulated trends against closed-form M/M/1 / M/M/c predictions before drawing conclusions.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" y="4133088"/>
            <a:ext cx="8229600" cy="502920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15137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rule applied throughout: no simulation result is fabricated. Pending runs are labeled “Illustrative placeholder” and conclusions are stated as expected/theoretical until MATLAB or OMNeT++ output is available.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4"/>
          <p:cNvSpPr/>
          <p:nvPr/>
        </p:nvSpPr>
        <p:spPr>
          <a:xfrm>
            <a:off x="0" y="0"/>
            <a:ext cx="913448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7" name="Google Shape;247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34485" cy="513814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4"/>
          <p:cNvSpPr/>
          <p:nvPr/>
        </p:nvSpPr>
        <p:spPr>
          <a:xfrm>
            <a:off x="478609" y="2023110"/>
            <a:ext cx="8173461" cy="65151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44"/>
          <p:cNvSpPr/>
          <p:nvPr/>
        </p:nvSpPr>
        <p:spPr>
          <a:xfrm>
            <a:off x="479560" y="2811780"/>
            <a:ext cx="2587153" cy="174879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44"/>
          <p:cNvSpPr/>
          <p:nvPr/>
        </p:nvSpPr>
        <p:spPr>
          <a:xfrm>
            <a:off x="3272239" y="2811780"/>
            <a:ext cx="2588104" cy="174879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44"/>
          <p:cNvSpPr/>
          <p:nvPr/>
        </p:nvSpPr>
        <p:spPr>
          <a:xfrm>
            <a:off x="6064917" y="2811780"/>
            <a:ext cx="2588104" cy="174879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2" name="Google Shape;252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9559" y="1123950"/>
            <a:ext cx="1922048" cy="732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43363" y="1123950"/>
            <a:ext cx="1931563" cy="732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6683" y="1123950"/>
            <a:ext cx="1922048" cy="73266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4"/>
          <p:cNvSpPr txBox="1"/>
          <p:nvPr/>
        </p:nvSpPr>
        <p:spPr>
          <a:xfrm>
            <a:off x="479560" y="404813"/>
            <a:ext cx="3383565" cy="53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3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Framework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846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0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research question, explored through three linked sub-studies.</a:t>
            </a:r>
            <a:endParaRPr sz="1000"/>
          </a:p>
        </p:txBody>
      </p:sp>
      <p:sp>
        <p:nvSpPr>
          <p:cNvPr id="256" name="Google Shape;256;p44"/>
          <p:cNvSpPr txBox="1"/>
          <p:nvPr/>
        </p:nvSpPr>
        <p:spPr>
          <a:xfrm>
            <a:off x="687941" y="1303020"/>
            <a:ext cx="90393" cy="151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44"/>
          <p:cNvSpPr txBox="1"/>
          <p:nvPr/>
        </p:nvSpPr>
        <p:spPr>
          <a:xfrm>
            <a:off x="2791727" y="1303020"/>
            <a:ext cx="55188" cy="151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44"/>
          <p:cNvSpPr txBox="1"/>
          <p:nvPr/>
        </p:nvSpPr>
        <p:spPr>
          <a:xfrm>
            <a:off x="4863162" y="1303020"/>
            <a:ext cx="83733" cy="151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4"/>
          <p:cNvSpPr txBox="1"/>
          <p:nvPr/>
        </p:nvSpPr>
        <p:spPr>
          <a:xfrm>
            <a:off x="6942209" y="1303020"/>
            <a:ext cx="98006" cy="151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4"/>
          <p:cNvSpPr txBox="1"/>
          <p:nvPr/>
        </p:nvSpPr>
        <p:spPr>
          <a:xfrm>
            <a:off x="588984" y="1532572"/>
            <a:ext cx="448161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44"/>
          <p:cNvSpPr txBox="1"/>
          <p:nvPr/>
        </p:nvSpPr>
        <p:spPr>
          <a:xfrm>
            <a:off x="2675643" y="1532572"/>
            <a:ext cx="510009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Intervention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44"/>
          <p:cNvSpPr txBox="1"/>
          <p:nvPr/>
        </p:nvSpPr>
        <p:spPr>
          <a:xfrm>
            <a:off x="4761350" y="1532572"/>
            <a:ext cx="493833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4"/>
          <p:cNvSpPr txBox="1"/>
          <p:nvPr/>
        </p:nvSpPr>
        <p:spPr>
          <a:xfrm>
            <a:off x="6847058" y="1532572"/>
            <a:ext cx="378701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4"/>
          <p:cNvSpPr txBox="1"/>
          <p:nvPr/>
        </p:nvSpPr>
        <p:spPr>
          <a:xfrm>
            <a:off x="588984" y="1654492"/>
            <a:ext cx="1695589" cy="18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Packets / traffic at a network node under mixed &amp;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352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 load</a:t>
            </a:r>
            <a:endParaRPr sz="1000"/>
          </a:p>
        </p:txBody>
      </p:sp>
      <p:sp>
        <p:nvSpPr>
          <p:cNvPr id="265" name="Google Shape;265;p44"/>
          <p:cNvSpPr txBox="1"/>
          <p:nvPr/>
        </p:nvSpPr>
        <p:spPr>
          <a:xfrm>
            <a:off x="2675643" y="1662430"/>
            <a:ext cx="1469130" cy="18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 Queuing &amp; multi-stage (network-of-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352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queues) models</a:t>
            </a:r>
            <a:endParaRPr sz="1000"/>
          </a:p>
        </p:txBody>
      </p:sp>
      <p:sp>
        <p:nvSpPr>
          <p:cNvPr id="266" name="Google Shape;266;p44"/>
          <p:cNvSpPr txBox="1"/>
          <p:nvPr/>
        </p:nvSpPr>
        <p:spPr>
          <a:xfrm>
            <a:off x="4761350" y="1711960"/>
            <a:ext cx="1408233" cy="8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FIFO queue / single-queue baseline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4"/>
          <p:cNvSpPr txBox="1"/>
          <p:nvPr/>
        </p:nvSpPr>
        <p:spPr>
          <a:xfrm>
            <a:off x="6847058" y="1662430"/>
            <a:ext cx="1572845" cy="18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Waiting time, end-to-end delay, queue length,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352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throughput</a:t>
            </a:r>
            <a:endParaRPr sz="1000"/>
          </a:p>
        </p:txBody>
      </p:sp>
      <p:sp>
        <p:nvSpPr>
          <p:cNvPr id="268" name="Google Shape;268;p44"/>
          <p:cNvSpPr txBox="1"/>
          <p:nvPr/>
        </p:nvSpPr>
        <p:spPr>
          <a:xfrm>
            <a:off x="650832" y="2167890"/>
            <a:ext cx="6201935" cy="301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"Does priority-aware / multi-stage queue modeling capture congestion and improve QoS better than a simple single FIFO queue?"</a:t>
            </a:r>
            <a:endParaRPr sz="1000"/>
          </a:p>
        </p:txBody>
      </p:sp>
      <p:sp>
        <p:nvSpPr>
          <p:cNvPr id="269" name="Google Shape;269;p44"/>
          <p:cNvSpPr txBox="1"/>
          <p:nvPr/>
        </p:nvSpPr>
        <p:spPr>
          <a:xfrm>
            <a:off x="650832" y="3004185"/>
            <a:ext cx="2009587" cy="1475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F2A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Single-Queue vs Network-of-Queues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DCE8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End-to-end delay across a 3-stage tandem chain</a:t>
            </a:r>
            <a:endParaRPr sz="1000"/>
          </a:p>
          <a:p>
            <a:pPr marL="0" marR="0" lvl="0" indent="0" algn="l" rtl="0">
              <a:lnSpc>
                <a:spcPct val="10434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900" b="1" i="1" u="none" strike="noStrike" cap="none">
                <a:solidFill>
                  <a:srgbClr val="F2A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Monish</a:t>
            </a:r>
            <a:endParaRPr sz="1000"/>
          </a:p>
          <a:p>
            <a:pPr marL="0" marR="0" lvl="0" indent="0" algn="l" rtl="0">
              <a:lnSpc>
                <a:spcPct val="105555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AFC6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Slides 3–8</a:t>
            </a:r>
            <a:endParaRPr sz="1000"/>
          </a:p>
        </p:txBody>
      </p:sp>
      <p:sp>
        <p:nvSpPr>
          <p:cNvPr id="270" name="Google Shape;270;p44"/>
          <p:cNvSpPr txBox="1"/>
          <p:nvPr/>
        </p:nvSpPr>
        <p:spPr>
          <a:xfrm>
            <a:off x="3443511" y="3004185"/>
            <a:ext cx="2158974" cy="1475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F2A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vs Priority Queuing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DCE8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 of time-sensitive voice packets under mixed traffic</a:t>
            </a:r>
            <a:endParaRPr sz="1000"/>
          </a:p>
          <a:p>
            <a:pPr marL="0" marR="0" lvl="0" indent="0" algn="l" rtl="0">
              <a:lnSpc>
                <a:spcPct val="10434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900" b="1" i="1" u="none" strike="noStrike" cap="none">
                <a:solidFill>
                  <a:srgbClr val="F2A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Deepak</a:t>
            </a:r>
            <a:endParaRPr sz="1000"/>
          </a:p>
          <a:p>
            <a:pPr marL="0" marR="0" lvl="0" indent="0" algn="l" rtl="0">
              <a:lnSpc>
                <a:spcPct val="105555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AFC6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Slides 9–14</a:t>
            </a:r>
            <a:endParaRPr sz="1000"/>
          </a:p>
        </p:txBody>
      </p:sp>
      <p:sp>
        <p:nvSpPr>
          <p:cNvPr id="271" name="Google Shape;271;p44"/>
          <p:cNvSpPr txBox="1"/>
          <p:nvPr/>
        </p:nvSpPr>
        <p:spPr>
          <a:xfrm>
            <a:off x="6236189" y="2923589"/>
            <a:ext cx="2111398" cy="1475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F2A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 of Arrival Rate on Queue Length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DCE8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λ vs μ drives congestion at one node</a:t>
            </a:r>
            <a:endParaRPr sz="1000"/>
          </a:p>
          <a:p>
            <a:pPr marL="0" marR="0" lvl="0" indent="0" algn="l" rtl="0">
              <a:lnSpc>
                <a:spcPct val="10434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900" b="1" i="1" u="none" strike="noStrike" cap="none">
                <a:solidFill>
                  <a:srgbClr val="F2A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Keshav</a:t>
            </a:r>
            <a:endParaRPr sz="1000"/>
          </a:p>
          <a:p>
            <a:pPr marL="0" marR="0" lvl="0" indent="0" algn="l" rtl="0">
              <a:lnSpc>
                <a:spcPct val="105555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AFC6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Slides 15–19</a:t>
            </a:r>
            <a:endParaRPr sz="1000"/>
          </a:p>
        </p:txBody>
      </p:sp>
      <p:sp>
        <p:nvSpPr>
          <p:cNvPr id="272" name="Google Shape;272;p44"/>
          <p:cNvSpPr txBox="1"/>
          <p:nvPr/>
        </p:nvSpPr>
        <p:spPr>
          <a:xfrm>
            <a:off x="8613058" y="4904423"/>
            <a:ext cx="244538" cy="8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4350" y="300038"/>
            <a:ext cx="750000" cy="20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1275" b="1" i="0">
                <a:solidFill>
                  <a:srgbClr val="0E5D84"/>
                </a:solidFill>
                <a:latin typeface="Georg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517500"/>
            <a:ext cx="8115300" cy="3045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1875" b="1" i="0">
                <a:solidFill>
                  <a:srgbClr val="22283A"/>
                </a:solidFill>
                <a:latin typeface="Georgia"/>
              </a:rPr>
              <a:t>Single-Queue vs Network-of-Queues —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862500"/>
            <a:ext cx="8115300" cy="1562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938" b="0" i="1">
                <a:solidFill>
                  <a:srgbClr val="838D97"/>
                </a:solidFill>
                <a:latin typeface="Calibri Light"/>
              </a:rPr>
              <a:t>End-to-end delay analysis across a chain of network devices  ·  by Monish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4650" y="4918500"/>
            <a:ext cx="375000" cy="1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5000"/>
              </a:lnSpc>
            </a:pPr>
            <a:r>
              <a:rPr sz="713" b="0" i="0">
                <a:solidFill>
                  <a:srgbClr val="838D97"/>
                </a:solidFill>
                <a:latin typeface="Calibri Light"/>
              </a:rPr>
              <a:t>03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350" y="1140000"/>
            <a:ext cx="8115300" cy="179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</a:pPr>
            <a:r>
              <a:rPr sz="975" b="0" i="0">
                <a:solidFill>
                  <a:srgbClr val="42454D"/>
                </a:solidFill>
                <a:latin typeface="Calibri Light"/>
              </a:rPr>
              <a:t>Real network traffic traverses multiple devices. Each device may have its own queue and service process, and congestion can accumulate across stages.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4350" y="1635000"/>
            <a:ext cx="8115300" cy="540000"/>
          </a:xfrm>
          <a:prstGeom prst="roundRect">
            <a:avLst>
              <a:gd name="adj" fmla="val 4000"/>
            </a:avLst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013"/>
          </a:p>
        </p:txBody>
      </p:sp>
      <p:sp>
        <p:nvSpPr>
          <p:cNvPr id="8" name="TextBox 7"/>
          <p:cNvSpPr txBox="1"/>
          <p:nvPr/>
        </p:nvSpPr>
        <p:spPr>
          <a:xfrm>
            <a:off x="679350" y="1717500"/>
            <a:ext cx="7785300" cy="131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788" b="1" i="0">
                <a:solidFill>
                  <a:srgbClr val="0E5D84"/>
                </a:solidFill>
                <a:latin typeface="Calibri Light"/>
              </a:rPr>
              <a:t>RESEARCH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50" y="1890000"/>
            <a:ext cx="7785300" cy="167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sz="938" b="0" i="1">
                <a:solidFill>
                  <a:srgbClr val="22283A"/>
                </a:solidFill>
                <a:latin typeface="Calibri Light"/>
              </a:rPr>
              <a:t>"For a chain of network devices, does a Network-of-Queues model — rather than a Single-Queue model — better capture congestion and traffic management?"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350" y="2362500"/>
            <a:ext cx="1944450" cy="1125000"/>
          </a:xfrm>
          <a:prstGeom prst="roundRect">
            <a:avLst>
              <a:gd name="adj" fmla="val 4000"/>
            </a:avLst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013"/>
          </a:p>
        </p:txBody>
      </p:sp>
      <p:sp>
        <p:nvSpPr>
          <p:cNvPr id="11" name="Oval 10"/>
          <p:cNvSpPr/>
          <p:nvPr/>
        </p:nvSpPr>
        <p:spPr>
          <a:xfrm>
            <a:off x="641850" y="2475000"/>
            <a:ext cx="322500" cy="322500"/>
          </a:xfrm>
          <a:prstGeom prst="ellipse">
            <a:avLst/>
          </a:prstGeom>
          <a:solidFill>
            <a:srgbClr val="0E5D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25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850" y="2880000"/>
            <a:ext cx="168945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2283A"/>
                </a:solidFill>
                <a:latin typeface="Calibri"/>
              </a:rPr>
              <a:t>Population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850" y="3067500"/>
            <a:ext cx="1689450" cy="26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sz="713" b="0" i="0">
                <a:solidFill>
                  <a:srgbClr val="42454D"/>
                </a:solidFill>
                <a:latin typeface="Calibri Light"/>
              </a:rPr>
              <a:t>Packets traversing a chain of network devices (routers / switches / gateways)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71300" y="2362500"/>
            <a:ext cx="1944450" cy="1125000"/>
          </a:xfrm>
          <a:prstGeom prst="roundRect">
            <a:avLst>
              <a:gd name="adj" fmla="val 4000"/>
            </a:avLst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013"/>
          </a:p>
        </p:txBody>
      </p:sp>
      <p:sp>
        <p:nvSpPr>
          <p:cNvPr id="15" name="Oval 14"/>
          <p:cNvSpPr/>
          <p:nvPr/>
        </p:nvSpPr>
        <p:spPr>
          <a:xfrm>
            <a:off x="2698800" y="2475000"/>
            <a:ext cx="322500" cy="322500"/>
          </a:xfrm>
          <a:prstGeom prst="ellipse">
            <a:avLst/>
          </a:prstGeom>
          <a:solidFill>
            <a:srgbClr val="0E5D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25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8800" y="2880000"/>
            <a:ext cx="168945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2283A"/>
                </a:solidFill>
                <a:latin typeface="Calibri"/>
              </a:rPr>
              <a:t>Intervention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8800" y="3067500"/>
            <a:ext cx="1689450" cy="26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sz="713" b="0" i="0">
                <a:solidFill>
                  <a:srgbClr val="42454D"/>
                </a:solidFill>
                <a:latin typeface="Calibri Light"/>
              </a:rPr>
              <a:t>Model each device as its own queue (3-stage tandem network)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28250" y="2362500"/>
            <a:ext cx="1944450" cy="1125000"/>
          </a:xfrm>
          <a:prstGeom prst="roundRect">
            <a:avLst>
              <a:gd name="adj" fmla="val 4000"/>
            </a:avLst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013"/>
          </a:p>
        </p:txBody>
      </p:sp>
      <p:sp>
        <p:nvSpPr>
          <p:cNvPr id="19" name="Oval 18"/>
          <p:cNvSpPr/>
          <p:nvPr/>
        </p:nvSpPr>
        <p:spPr>
          <a:xfrm>
            <a:off x="4755750" y="2475000"/>
            <a:ext cx="322500" cy="322500"/>
          </a:xfrm>
          <a:prstGeom prst="ellipse">
            <a:avLst/>
          </a:prstGeom>
          <a:solidFill>
            <a:srgbClr val="0E5D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25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5750" y="2880000"/>
            <a:ext cx="168945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2283A"/>
                </a:solidFill>
                <a:latin typeface="Calibri"/>
              </a:rPr>
              <a:t>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5750" y="3067500"/>
            <a:ext cx="1689450" cy="26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sz="713" b="0" i="0">
                <a:solidFill>
                  <a:srgbClr val="42454D"/>
                </a:solidFill>
                <a:latin typeface="Calibri Light"/>
              </a:rPr>
              <a:t>Simplify the entire path as one single queue + server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85200" y="2362500"/>
            <a:ext cx="1944450" cy="1125000"/>
          </a:xfrm>
          <a:prstGeom prst="roundRect">
            <a:avLst>
              <a:gd name="adj" fmla="val 4000"/>
            </a:avLst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013"/>
          </a:p>
        </p:txBody>
      </p:sp>
      <p:sp>
        <p:nvSpPr>
          <p:cNvPr id="23" name="Oval 22"/>
          <p:cNvSpPr/>
          <p:nvPr/>
        </p:nvSpPr>
        <p:spPr>
          <a:xfrm>
            <a:off x="6812700" y="2475000"/>
            <a:ext cx="322500" cy="322500"/>
          </a:xfrm>
          <a:prstGeom prst="ellipse">
            <a:avLst/>
          </a:prstGeom>
          <a:solidFill>
            <a:srgbClr val="0E5D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25" b="1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700" y="2880000"/>
            <a:ext cx="168945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2283A"/>
                </a:solidFill>
                <a:latin typeface="Calibri"/>
              </a:rPr>
              <a:t>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700" y="3067500"/>
            <a:ext cx="1689450" cy="26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sz="713" b="0" i="0">
                <a:solidFill>
                  <a:srgbClr val="42454D"/>
                </a:solidFill>
                <a:latin typeface="Calibri Light"/>
              </a:rPr>
              <a:t>End-to-end delay (ms); congestion location &amp; QoS implications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350" y="3622500"/>
            <a:ext cx="8115300" cy="162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975" b="1" i="0">
                <a:solidFill>
                  <a:srgbClr val="0E5D84"/>
                </a:solidFill>
                <a:latin typeface="Calibri"/>
              </a:rPr>
              <a:t>Why this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350" y="3862500"/>
            <a:ext cx="8115300" cy="6604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00">
                <a:solidFill>
                  <a:srgbClr val="42454D"/>
                </a:solidFill>
                <a:latin typeface="Calibri Light"/>
              </a:rPr>
              <a:t>•   Real traffic hops through many devices before reaching its destination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00">
                <a:solidFill>
                  <a:srgbClr val="42454D"/>
                </a:solidFill>
                <a:latin typeface="Calibri Light"/>
              </a:rPr>
              <a:t>•   A single-queue abstraction may hide exactly where congestion builds up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00">
                <a:solidFill>
                  <a:srgbClr val="42454D"/>
                </a:solidFill>
                <a:latin typeface="Calibri Light"/>
              </a:rPr>
              <a:t>•   Understanding per-hop delay is a prerequisite for transport-layer QoS tuning (CO4)</a:t>
            </a: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196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4350" y="300038"/>
            <a:ext cx="750000" cy="20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1275" b="1" i="0">
                <a:solidFill>
                  <a:srgbClr val="0E5D84"/>
                </a:solidFill>
                <a:latin typeface="Georg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517500"/>
            <a:ext cx="8115300" cy="3045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1875" b="1" i="0">
                <a:solidFill>
                  <a:srgbClr val="22283A"/>
                </a:solidFill>
                <a:latin typeface="Georgia"/>
              </a:rPr>
              <a:t>Single-Queue Model (Baseline)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862500"/>
            <a:ext cx="8115300" cy="1562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938" b="0" i="1">
                <a:solidFill>
                  <a:srgbClr val="838D97"/>
                </a:solidFill>
                <a:latin typeface="Calibri Light"/>
              </a:rPr>
              <a:t>Abstraction: the entire path reduced to one Queue +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4650" y="4918500"/>
            <a:ext cx="375000" cy="1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5000"/>
              </a:lnSpc>
            </a:pPr>
            <a:r>
              <a:rPr sz="713" b="0" i="0">
                <a:solidFill>
                  <a:srgbClr val="838D97"/>
                </a:solidFill>
                <a:latin typeface="Calibri Light"/>
              </a:rPr>
              <a:t>04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72000" y="1440923"/>
            <a:ext cx="1950000" cy="420000"/>
          </a:xfrm>
          <a:prstGeom prst="roundRect">
            <a:avLst>
              <a:gd name="adj" fmla="val 8000"/>
            </a:avLst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75" b="1">
                <a:solidFill>
                  <a:srgbClr val="22283A"/>
                </a:solidFill>
                <a:latin typeface="Calibri"/>
              </a:rPr>
              <a:t>Traffic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22000" y="1553423"/>
            <a:ext cx="375000" cy="224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8795A3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97000" y="1440923"/>
            <a:ext cx="1950000" cy="420000"/>
          </a:xfrm>
          <a:prstGeom prst="roundRect">
            <a:avLst>
              <a:gd name="adj" fmla="val 8000"/>
            </a:avLst>
          </a:prstGeom>
          <a:solidFill>
            <a:srgbClr val="0E5D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75" b="1">
                <a:solidFill>
                  <a:srgbClr val="FFFFFF"/>
                </a:solidFill>
                <a:latin typeface="Calibri"/>
              </a:rPr>
              <a:t>Queue +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7000" y="1553423"/>
            <a:ext cx="375000" cy="224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8795A3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22000" y="1440923"/>
            <a:ext cx="1950000" cy="420000"/>
          </a:xfrm>
          <a:prstGeom prst="roundRect">
            <a:avLst>
              <a:gd name="adj" fmla="val 8000"/>
            </a:avLst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75" b="1">
                <a:solidFill>
                  <a:srgbClr val="22283A"/>
                </a:solidFill>
                <a:latin typeface="Calibri"/>
              </a:rPr>
              <a:t>Destination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350" y="2481058"/>
            <a:ext cx="3945150" cy="862500"/>
          </a:xfrm>
          <a:prstGeom prst="roundRect">
            <a:avLst>
              <a:gd name="adj" fmla="val 4000"/>
            </a:avLst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013"/>
          </a:p>
        </p:txBody>
      </p:sp>
      <p:sp>
        <p:nvSpPr>
          <p:cNvPr id="12" name="TextBox 11"/>
          <p:cNvSpPr txBox="1"/>
          <p:nvPr/>
        </p:nvSpPr>
        <p:spPr>
          <a:xfrm>
            <a:off x="664350" y="2593558"/>
            <a:ext cx="3645150" cy="1562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938" b="1" i="0">
                <a:solidFill>
                  <a:srgbClr val="0E5D84"/>
                </a:solidFill>
                <a:latin typeface="Calibri"/>
              </a:rPr>
              <a:t>Advantages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350" y="2803558"/>
            <a:ext cx="3645150" cy="54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spcAft>
                <a:spcPts val="375"/>
              </a:spcAft>
            </a:pPr>
            <a:r>
              <a:rPr sz="788">
                <a:solidFill>
                  <a:srgbClr val="42454D"/>
                </a:solidFill>
                <a:latin typeface="Calibri Light"/>
              </a:rPr>
              <a:t>•   Simple to analyze and simulate</a:t>
            </a:r>
          </a:p>
          <a:p>
            <a:pPr>
              <a:lnSpc>
                <a:spcPct val="125000"/>
              </a:lnSpc>
              <a:spcAft>
                <a:spcPts val="375"/>
              </a:spcAft>
            </a:pPr>
            <a:r>
              <a:rPr sz="788">
                <a:solidFill>
                  <a:srgbClr val="42454D"/>
                </a:solidFill>
                <a:latin typeface="Calibri Light"/>
              </a:rPr>
              <a:t>•   Fewer parameters required</a:t>
            </a:r>
          </a:p>
          <a:p>
            <a:pPr>
              <a:lnSpc>
                <a:spcPct val="125000"/>
              </a:lnSpc>
              <a:spcAft>
                <a:spcPts val="375"/>
              </a:spcAft>
            </a:pPr>
            <a:r>
              <a:rPr sz="788">
                <a:solidFill>
                  <a:srgbClr val="42454D"/>
                </a:solidFill>
                <a:latin typeface="Calibri Light"/>
              </a:rPr>
              <a:t>•   Useful as a theoretical baseline (M/M/1 analysis)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4500" y="2481058"/>
            <a:ext cx="3945150" cy="862500"/>
          </a:xfrm>
          <a:prstGeom prst="roundRect">
            <a:avLst>
              <a:gd name="adj" fmla="val 4000"/>
            </a:avLst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013"/>
          </a:p>
        </p:txBody>
      </p:sp>
      <p:sp>
        <p:nvSpPr>
          <p:cNvPr id="15" name="TextBox 14"/>
          <p:cNvSpPr txBox="1"/>
          <p:nvPr/>
        </p:nvSpPr>
        <p:spPr>
          <a:xfrm>
            <a:off x="4834500" y="2593558"/>
            <a:ext cx="3645150" cy="1562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938" b="1" i="0">
                <a:solidFill>
                  <a:srgbClr val="0E5D84"/>
                </a:solidFill>
                <a:latin typeface="Calibri"/>
              </a:rPr>
              <a:t>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4500" y="2803558"/>
            <a:ext cx="3645150" cy="54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spcAft>
                <a:spcPts val="375"/>
              </a:spcAft>
            </a:pPr>
            <a:r>
              <a:rPr sz="788">
                <a:solidFill>
                  <a:srgbClr val="42454D"/>
                </a:solidFill>
                <a:latin typeface="Calibri Light"/>
              </a:rPr>
              <a:t>•   Cannot localize congestion to specific devices</a:t>
            </a:r>
          </a:p>
          <a:p>
            <a:pPr>
              <a:lnSpc>
                <a:spcPct val="125000"/>
              </a:lnSpc>
              <a:spcAft>
                <a:spcPts val="375"/>
              </a:spcAft>
            </a:pPr>
            <a:r>
              <a:rPr sz="788">
                <a:solidFill>
                  <a:srgbClr val="42454D"/>
                </a:solidFill>
                <a:latin typeface="Calibri Light"/>
              </a:rPr>
              <a:t>•   May mask intermediate bottlenecks</a:t>
            </a:r>
          </a:p>
          <a:p>
            <a:pPr>
              <a:lnSpc>
                <a:spcPct val="125000"/>
              </a:lnSpc>
              <a:spcAft>
                <a:spcPts val="375"/>
              </a:spcAft>
            </a:pPr>
            <a:r>
              <a:rPr sz="788">
                <a:solidFill>
                  <a:srgbClr val="42454D"/>
                </a:solidFill>
                <a:latin typeface="Calibri Light"/>
              </a:rPr>
              <a:t>•   Less accurate for heterogeneous service rates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4350" y="3595789"/>
            <a:ext cx="8115300" cy="450000"/>
          </a:xfrm>
          <a:prstGeom prst="roundRect">
            <a:avLst>
              <a:gd name="adj" fmla="val 4000"/>
            </a:avLst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013"/>
          </a:p>
        </p:txBody>
      </p:sp>
      <p:sp>
        <p:nvSpPr>
          <p:cNvPr id="18" name="TextBox 17"/>
          <p:cNvSpPr txBox="1"/>
          <p:nvPr/>
        </p:nvSpPr>
        <p:spPr>
          <a:xfrm>
            <a:off x="664350" y="3693289"/>
            <a:ext cx="7815300" cy="1438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863" b="1" i="0">
                <a:solidFill>
                  <a:srgbClr val="0E5D84"/>
                </a:solidFill>
                <a:latin typeface="Calibri"/>
              </a:rPr>
              <a:t>Role in this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350" y="3865789"/>
            <a:ext cx="7815300" cy="131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788" b="0" i="1">
                <a:solidFill>
                  <a:srgbClr val="42454D"/>
                </a:solidFill>
                <a:latin typeface="Calibri Light"/>
              </a:rPr>
              <a:t>Provides a controlled baseline for comparing end-to-end delay against the 3-stage tandem queue model, verified in Cisco Packet Tracer below (Model A).</a:t>
            </a: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350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_2026-08-24_223258.png">
            <a:extLst>
              <a:ext uri="{FF2B5EF4-FFF2-40B4-BE49-F238E27FC236}">
                <a16:creationId xmlns:a16="http://schemas.microsoft.com/office/drawing/2014/main" id="{A26BBF63-7879-5699-F8B4-980A2AD406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82"/>
          <a:stretch>
            <a:fillRect/>
          </a:stretch>
        </p:blipFill>
        <p:spPr>
          <a:xfrm>
            <a:off x="1262522" y="925881"/>
            <a:ext cx="6745976" cy="3603136"/>
          </a:xfrm>
          <a:prstGeom prst="rect">
            <a:avLst/>
          </a:prstGeom>
        </p:spPr>
      </p:pic>
      <p:sp>
        <p:nvSpPr>
          <p:cNvPr id="5" name="TextBox 22">
            <a:extLst>
              <a:ext uri="{FF2B5EF4-FFF2-40B4-BE49-F238E27FC236}">
                <a16:creationId xmlns:a16="http://schemas.microsoft.com/office/drawing/2014/main" id="{0AA2FB13-CF6D-95E6-BAE3-B8308A77E337}"/>
              </a:ext>
            </a:extLst>
          </p:cNvPr>
          <p:cNvSpPr txBox="1"/>
          <p:nvPr/>
        </p:nvSpPr>
        <p:spPr>
          <a:xfrm>
            <a:off x="1992212" y="4626226"/>
            <a:ext cx="5288165" cy="174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838D97"/>
                </a:solidFill>
                <a:latin typeface="Calibri Light"/>
              </a:rPr>
              <a:t>Packet Tracer — Model A (all pings successful)</a:t>
            </a:r>
            <a:endParaRPr lang="en-US" sz="1050" b="1" i="0">
              <a:solidFill>
                <a:srgbClr val="838D97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034934-8254-AE5E-0D45-1D551FEE94CD}"/>
              </a:ext>
            </a:extLst>
          </p:cNvPr>
          <p:cNvSpPr txBox="1"/>
          <p:nvPr/>
        </p:nvSpPr>
        <p:spPr>
          <a:xfrm>
            <a:off x="446942" y="146538"/>
            <a:ext cx="4572000" cy="6914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2325"/>
              </a:lnSpc>
            </a:pPr>
            <a:r>
              <a:rPr lang="en-US" sz="1600" b="1" i="0" u="none" strike="noStrike" baseline="0">
                <a:solidFill>
                  <a:srgbClr val="065A82"/>
                </a:solidFill>
                <a:latin typeface="Times New Roman"/>
                <a:ea typeface="Segoe UI"/>
                <a:cs typeface="Segoe UI"/>
              </a:rPr>
              <a:t>01</a:t>
            </a:r>
            <a:r>
              <a:rPr lang="en-US" sz="16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2625"/>
              </a:lnSpc>
            </a:pPr>
            <a:r>
              <a:rPr lang="en-US" sz="1800" b="1" i="0" u="none" strike="noStrike" baseline="0">
                <a:solidFill>
                  <a:srgbClr val="17233B"/>
                </a:solidFill>
                <a:latin typeface="Times New Roman"/>
                <a:ea typeface="Segoe UI"/>
                <a:cs typeface="Segoe UI"/>
              </a:rPr>
              <a:t>Single-Queue Model (Baseline)</a:t>
            </a:r>
            <a:r>
              <a:rPr lang="en-US" sz="18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300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7"/>
          <p:cNvSpPr/>
          <p:nvPr/>
        </p:nvSpPr>
        <p:spPr>
          <a:xfrm>
            <a:off x="0" y="0"/>
            <a:ext cx="913448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9" name="Google Shape;339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34485" cy="513814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7"/>
          <p:cNvSpPr/>
          <p:nvPr/>
        </p:nvSpPr>
        <p:spPr>
          <a:xfrm>
            <a:off x="478609" y="2434590"/>
            <a:ext cx="3905944" cy="222885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47"/>
          <p:cNvSpPr/>
          <p:nvPr/>
        </p:nvSpPr>
        <p:spPr>
          <a:xfrm>
            <a:off x="4555824" y="2434590"/>
            <a:ext cx="4097197" cy="2228850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47"/>
          <p:cNvSpPr txBox="1"/>
          <p:nvPr/>
        </p:nvSpPr>
        <p:spPr>
          <a:xfrm>
            <a:off x="479560" y="377190"/>
            <a:ext cx="5741404" cy="721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41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Network-of-Queues (3-Stage Tandem) &amp; Queuing Theory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device modeled as its own queue + server, analyzed with M/M/1 foundations</a:t>
            </a:r>
            <a:endParaRPr sz="1000"/>
          </a:p>
        </p:txBody>
      </p:sp>
      <p:sp>
        <p:nvSpPr>
          <p:cNvPr id="343" name="Google Shape;343;p47"/>
          <p:cNvSpPr txBox="1"/>
          <p:nvPr/>
        </p:nvSpPr>
        <p:spPr>
          <a:xfrm>
            <a:off x="845891" y="1602105"/>
            <a:ext cx="373391" cy="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7"/>
          <p:cNvSpPr txBox="1"/>
          <p:nvPr/>
        </p:nvSpPr>
        <p:spPr>
          <a:xfrm>
            <a:off x="2203694" y="1554480"/>
            <a:ext cx="319707" cy="10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 / S1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7"/>
          <p:cNvSpPr txBox="1"/>
          <p:nvPr/>
        </p:nvSpPr>
        <p:spPr>
          <a:xfrm>
            <a:off x="3573867" y="1554480"/>
            <a:ext cx="319707" cy="10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 / S2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47"/>
          <p:cNvSpPr txBox="1"/>
          <p:nvPr/>
        </p:nvSpPr>
        <p:spPr>
          <a:xfrm>
            <a:off x="4944040" y="1554480"/>
            <a:ext cx="319707" cy="10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Q3 / S3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7"/>
          <p:cNvSpPr txBox="1"/>
          <p:nvPr/>
        </p:nvSpPr>
        <p:spPr>
          <a:xfrm>
            <a:off x="6222868" y="1554480"/>
            <a:ext cx="501445" cy="10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7"/>
          <p:cNvSpPr txBox="1"/>
          <p:nvPr/>
        </p:nvSpPr>
        <p:spPr>
          <a:xfrm>
            <a:off x="479560" y="2118360"/>
            <a:ext cx="3851708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W_total  =  (Wq1 + S1)  +  (Wq2 + S2)  +  (Wq3 + S3)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47"/>
          <p:cNvSpPr txBox="1"/>
          <p:nvPr/>
        </p:nvSpPr>
        <p:spPr>
          <a:xfrm>
            <a:off x="666707" y="2576830"/>
            <a:ext cx="1782098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M/M/1 foundation (per stage)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47"/>
          <p:cNvSpPr txBox="1"/>
          <p:nvPr/>
        </p:nvSpPr>
        <p:spPr>
          <a:xfrm>
            <a:off x="4742971" y="2576830"/>
            <a:ext cx="1383391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Tandem network notes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7"/>
          <p:cNvSpPr txBox="1"/>
          <p:nvPr/>
        </p:nvSpPr>
        <p:spPr>
          <a:xfrm>
            <a:off x="650832" y="3340418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7"/>
          <p:cNvSpPr txBox="1"/>
          <p:nvPr/>
        </p:nvSpPr>
        <p:spPr>
          <a:xfrm>
            <a:off x="907739" y="3338830"/>
            <a:ext cx="2445626" cy="117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Poisson arrivals, exponential service, single server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7"/>
          <p:cNvSpPr txBox="1"/>
          <p:nvPr/>
        </p:nvSpPr>
        <p:spPr>
          <a:xfrm>
            <a:off x="4727096" y="3368993"/>
            <a:ext cx="39012" cy="110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8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7"/>
          <p:cNvSpPr txBox="1"/>
          <p:nvPr/>
        </p:nvSpPr>
        <p:spPr>
          <a:xfrm>
            <a:off x="4944316" y="3391217"/>
            <a:ext cx="3551204" cy="85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tandem of M/M/1 stages, each stage obeys M/M/1 statistics if arrivals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7"/>
          <p:cNvSpPr txBox="1"/>
          <p:nvPr/>
        </p:nvSpPr>
        <p:spPr>
          <a:xfrm>
            <a:off x="650832" y="3535680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7"/>
          <p:cNvSpPr txBox="1"/>
          <p:nvPr/>
        </p:nvSpPr>
        <p:spPr>
          <a:xfrm>
            <a:off x="907739" y="3534093"/>
            <a:ext cx="3064708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 = arrival rate, μ = service rate, ρ = λ/μ — stability requires λ &lt; μ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7"/>
          <p:cNvSpPr txBox="1"/>
          <p:nvPr/>
        </p:nvSpPr>
        <p:spPr>
          <a:xfrm>
            <a:off x="4944316" y="3529330"/>
            <a:ext cx="1998316" cy="117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stay Poisson (Jackson network conditions)</a:t>
            </a:r>
            <a:endParaRPr lang="en-US"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8" name="Google Shape;358;p47"/>
          <p:cNvSpPr txBox="1"/>
          <p:nvPr/>
        </p:nvSpPr>
        <p:spPr>
          <a:xfrm>
            <a:off x="650832" y="3730943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7"/>
          <p:cNvSpPr txBox="1"/>
          <p:nvPr/>
        </p:nvSpPr>
        <p:spPr>
          <a:xfrm>
            <a:off x="907739" y="3753167"/>
            <a:ext cx="1878802" cy="85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Wq = λ / [μ(μ−λ)]  (avg. wait in queue)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7"/>
          <p:cNvSpPr txBox="1"/>
          <p:nvPr/>
        </p:nvSpPr>
        <p:spPr>
          <a:xfrm>
            <a:off x="4727096" y="3702368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7"/>
          <p:cNvSpPr txBox="1"/>
          <p:nvPr/>
        </p:nvSpPr>
        <p:spPr>
          <a:xfrm>
            <a:off x="4944316" y="3700780"/>
            <a:ext cx="2876407" cy="5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Aggregate end-to-end delay is the sum of per-stage delays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7"/>
          <p:cNvSpPr txBox="1"/>
          <p:nvPr/>
        </p:nvSpPr>
        <p:spPr>
          <a:xfrm>
            <a:off x="650832" y="3926205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7"/>
          <p:cNvSpPr txBox="1"/>
          <p:nvPr/>
        </p:nvSpPr>
        <p:spPr>
          <a:xfrm>
            <a:off x="907739" y="3948430"/>
            <a:ext cx="1717972" cy="7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= 1 / (μ−λ)  (avg. time in system)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7"/>
          <p:cNvSpPr txBox="1"/>
          <p:nvPr/>
        </p:nvSpPr>
        <p:spPr>
          <a:xfrm>
            <a:off x="4727096" y="3897630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7"/>
          <p:cNvSpPr txBox="1"/>
          <p:nvPr/>
        </p:nvSpPr>
        <p:spPr>
          <a:xfrm>
            <a:off x="4944316" y="3927793"/>
            <a:ext cx="3364156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Stages correspond to routers, switches, gateways, or processing nodes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47"/>
          <p:cNvSpPr txBox="1"/>
          <p:nvPr/>
        </p:nvSpPr>
        <p:spPr>
          <a:xfrm>
            <a:off x="8613058" y="4904423"/>
            <a:ext cx="244538" cy="8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6-08-24_231218.png">
            <a:extLst>
              <a:ext uri="{FF2B5EF4-FFF2-40B4-BE49-F238E27FC236}">
                <a16:creationId xmlns:a16="http://schemas.microsoft.com/office/drawing/2014/main" id="{C0A13013-D2FB-BF0F-4A08-45EDC4C893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92"/>
          <a:stretch>
            <a:fillRect/>
          </a:stretch>
        </p:blipFill>
        <p:spPr>
          <a:xfrm>
            <a:off x="1177593" y="927071"/>
            <a:ext cx="6787039" cy="3601638"/>
          </a:xfrm>
          <a:prstGeom prst="rect">
            <a:avLst/>
          </a:prstGeom>
        </p:spPr>
      </p:pic>
      <p:sp>
        <p:nvSpPr>
          <p:cNvPr id="3" name="TextBox 24">
            <a:extLst>
              <a:ext uri="{FF2B5EF4-FFF2-40B4-BE49-F238E27FC236}">
                <a16:creationId xmlns:a16="http://schemas.microsoft.com/office/drawing/2014/main" id="{3BFC893E-4E2D-273C-56F8-5F635AFF6926}"/>
              </a:ext>
            </a:extLst>
          </p:cNvPr>
          <p:cNvSpPr txBox="1"/>
          <p:nvPr/>
        </p:nvSpPr>
        <p:spPr>
          <a:xfrm>
            <a:off x="1371866" y="4608519"/>
            <a:ext cx="6185190" cy="174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838D97"/>
                </a:solidFill>
                <a:latin typeface="Calibri Light"/>
              </a:rPr>
              <a:t>Packet Tracer — Model B (traffic reaching Server1)</a:t>
            </a:r>
            <a:endParaRPr lang="en-US" sz="1050" b="1" i="0">
              <a:solidFill>
                <a:srgbClr val="838D97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10AF5B-AAB7-3AAF-E999-5C6FAF03A9A3}"/>
              </a:ext>
            </a:extLst>
          </p:cNvPr>
          <p:cNvSpPr txBox="1"/>
          <p:nvPr/>
        </p:nvSpPr>
        <p:spPr>
          <a:xfrm>
            <a:off x="359019" y="241788"/>
            <a:ext cx="5824903" cy="6911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2325"/>
              </a:lnSpc>
            </a:pPr>
            <a:r>
              <a:rPr lang="en-US" sz="1600" b="1" i="0" u="none" strike="noStrike" baseline="0">
                <a:solidFill>
                  <a:srgbClr val="065A82"/>
                </a:solidFill>
                <a:latin typeface="Times New Roman"/>
                <a:ea typeface="Segoe UI"/>
                <a:cs typeface="Segoe UI"/>
              </a:rPr>
              <a:t>01</a:t>
            </a:r>
            <a:r>
              <a:rPr lang="en-US" sz="16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2625"/>
              </a:lnSpc>
            </a:pPr>
            <a:r>
              <a:rPr lang="en-US" sz="1800" b="1" i="0" u="none" strike="noStrike" baseline="0">
                <a:solidFill>
                  <a:srgbClr val="17233B"/>
                </a:solidFill>
                <a:latin typeface="Times New Roman"/>
                <a:ea typeface="Segoe UI"/>
                <a:cs typeface="Segoe UI"/>
              </a:rPr>
              <a:t>Network-of-Queues (3-Stage Tandem) &amp; Queuing </a:t>
            </a:r>
            <a:r>
              <a:rPr lang="en-US" sz="1800" b="1">
                <a:solidFill>
                  <a:srgbClr val="17233B"/>
                </a:solidFill>
                <a:latin typeface="Times New Roman"/>
                <a:ea typeface="Segoe UI"/>
                <a:cs typeface="Segoe UI"/>
              </a:rPr>
              <a:t>Theory</a:t>
            </a:r>
            <a:endParaRPr lang="en-US" sz="1800" b="1">
              <a:solidFill>
                <a:srgbClr val="17233B"/>
              </a:solidFill>
              <a:latin typeface="Times New Roman"/>
              <a:cs typeface="Segoe U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230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8"/>
          <p:cNvSpPr/>
          <p:nvPr/>
        </p:nvSpPr>
        <p:spPr>
          <a:xfrm>
            <a:off x="0" y="0"/>
            <a:ext cx="913448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48"/>
          <p:cNvSpPr/>
          <p:nvPr/>
        </p:nvSpPr>
        <p:spPr>
          <a:xfrm>
            <a:off x="478609" y="2502218"/>
            <a:ext cx="3905944" cy="2126932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48"/>
          <p:cNvSpPr/>
          <p:nvPr/>
        </p:nvSpPr>
        <p:spPr>
          <a:xfrm>
            <a:off x="4555824" y="2502218"/>
            <a:ext cx="4097197" cy="2126932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74" name="Google Shape;374;p48"/>
          <p:cNvGraphicFramePr/>
          <p:nvPr/>
        </p:nvGraphicFramePr>
        <p:xfrm>
          <a:off x="479560" y="1268730"/>
          <a:ext cx="8173425" cy="603850"/>
        </p:xfrm>
        <a:graphic>
          <a:graphicData uri="http://schemas.openxmlformats.org/drawingml/2006/table">
            <a:tbl>
              <a:tblPr>
                <a:noFill/>
                <a:tableStyleId>{F1822104-C2AD-44E3-BFA6-AD98DCF618D7}</a:tableStyleId>
              </a:tblPr>
              <a:tblGrid>
                <a:gridCol w="246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8575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800" u="none" strike="noStrike" cap="none"/>
                    </a:p>
                  </a:txBody>
                  <a:tcPr marL="0" marR="0" marT="50475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Queue Stages</a:t>
                      </a:r>
                      <a:endParaRPr sz="800" u="none" strike="noStrike" cap="none"/>
                    </a:p>
                  </a:txBody>
                  <a:tcPr marL="0" marR="0" marT="50475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Structure</a:t>
                      </a:r>
                      <a:endParaRPr sz="800" u="none" strike="noStrike" cap="none"/>
                    </a:p>
                  </a:txBody>
                  <a:tcPr marL="0" marR="0" marT="50475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925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95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 A — Single Queue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95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95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Traffic → Queue 1 → Destination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350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047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 B — Tandem Network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047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047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Traffic → Q1 → Q2 → Q3 → Destination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5" name="Google Shape;375;p48"/>
          <p:cNvSpPr txBox="1"/>
          <p:nvPr/>
        </p:nvSpPr>
        <p:spPr>
          <a:xfrm>
            <a:off x="479560" y="377190"/>
            <a:ext cx="4370280" cy="721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41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Design &amp; Simulation Method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traffic conditions, two models — MATLAB / OMNeT++</a:t>
            </a:r>
            <a:endParaRPr sz="1000"/>
          </a:p>
        </p:txBody>
      </p:sp>
      <p:sp>
        <p:nvSpPr>
          <p:cNvPr id="376" name="Google Shape;376;p48"/>
          <p:cNvSpPr txBox="1"/>
          <p:nvPr/>
        </p:nvSpPr>
        <p:spPr>
          <a:xfrm>
            <a:off x="479560" y="2204085"/>
            <a:ext cx="5974524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Controlled variables: λ, μ, traffic distribution, packet size, simulation duration, initial conditions.  Primary metric: end-to-end delay (ms).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8"/>
          <p:cNvSpPr txBox="1"/>
          <p:nvPr/>
        </p:nvSpPr>
        <p:spPr>
          <a:xfrm>
            <a:off x="666707" y="2661285"/>
            <a:ext cx="1621091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MATLAB implementation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8"/>
          <p:cNvSpPr txBox="1"/>
          <p:nvPr/>
        </p:nvSpPr>
        <p:spPr>
          <a:xfrm>
            <a:off x="4742971" y="2661285"/>
            <a:ext cx="1225366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OMNeT++ equivalent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8"/>
          <p:cNvSpPr txBox="1"/>
          <p:nvPr/>
        </p:nvSpPr>
        <p:spPr>
          <a:xfrm>
            <a:off x="650832" y="3288982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8"/>
          <p:cNvSpPr txBox="1"/>
          <p:nvPr/>
        </p:nvSpPr>
        <p:spPr>
          <a:xfrm>
            <a:off x="907739" y="3310255"/>
            <a:ext cx="3136396" cy="85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packet arrivals (Poisson) and service times (exponential)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8"/>
          <p:cNvSpPr txBox="1"/>
          <p:nvPr/>
        </p:nvSpPr>
        <p:spPr>
          <a:xfrm>
            <a:off x="4727096" y="3317557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8"/>
          <p:cNvSpPr txBox="1"/>
          <p:nvPr/>
        </p:nvSpPr>
        <p:spPr>
          <a:xfrm>
            <a:off x="4984003" y="3315018"/>
            <a:ext cx="3506734" cy="94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8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Modules: Source/Traffic Generator, Queue modules, Server/router modules,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8"/>
          <p:cNvSpPr txBox="1"/>
          <p:nvPr/>
        </p:nvSpPr>
        <p:spPr>
          <a:xfrm>
            <a:off x="650832" y="3484245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8"/>
          <p:cNvSpPr txBox="1"/>
          <p:nvPr/>
        </p:nvSpPr>
        <p:spPr>
          <a:xfrm>
            <a:off x="907739" y="3481705"/>
            <a:ext cx="2733957" cy="117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Single-queue: enqueue, service, record departure times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8"/>
          <p:cNvSpPr txBox="1"/>
          <p:nvPr/>
        </p:nvSpPr>
        <p:spPr>
          <a:xfrm>
            <a:off x="4984003" y="3476942"/>
            <a:ext cx="531940" cy="6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8"/>
          <p:cNvSpPr txBox="1"/>
          <p:nvPr/>
        </p:nvSpPr>
        <p:spPr>
          <a:xfrm>
            <a:off x="650832" y="3679507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8"/>
          <p:cNvSpPr txBox="1"/>
          <p:nvPr/>
        </p:nvSpPr>
        <p:spPr>
          <a:xfrm>
            <a:off x="907739" y="3700780"/>
            <a:ext cx="3374949" cy="6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Three-stage: forward packets Server1→Server2→Server3; record final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8"/>
          <p:cNvSpPr txBox="1"/>
          <p:nvPr/>
        </p:nvSpPr>
        <p:spPr>
          <a:xfrm>
            <a:off x="4727096" y="3650932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8"/>
          <p:cNvSpPr txBox="1"/>
          <p:nvPr/>
        </p:nvSpPr>
        <p:spPr>
          <a:xfrm>
            <a:off x="4984003" y="3648393"/>
            <a:ext cx="2784214" cy="117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 per-stage delays, queue lengths, end-to-end statistics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8"/>
          <p:cNvSpPr txBox="1"/>
          <p:nvPr/>
        </p:nvSpPr>
        <p:spPr>
          <a:xfrm>
            <a:off x="650832" y="4011930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8"/>
          <p:cNvSpPr txBox="1"/>
          <p:nvPr/>
        </p:nvSpPr>
        <p:spPr>
          <a:xfrm>
            <a:off x="907739" y="3846830"/>
            <a:ext cx="2739893" cy="265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arrival time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End-to-End Delay = arrival_dest − arrival_source</a:t>
            </a:r>
            <a:endParaRPr sz="1000"/>
          </a:p>
        </p:txBody>
      </p:sp>
      <p:sp>
        <p:nvSpPr>
          <p:cNvPr id="392" name="Google Shape;392;p48"/>
          <p:cNvSpPr txBox="1"/>
          <p:nvPr/>
        </p:nvSpPr>
        <p:spPr>
          <a:xfrm>
            <a:off x="4727096" y="3845243"/>
            <a:ext cx="39012" cy="110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8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8"/>
          <p:cNvSpPr txBox="1"/>
          <p:nvPr/>
        </p:nvSpPr>
        <p:spPr>
          <a:xfrm>
            <a:off x="4984003" y="3851593"/>
            <a:ext cx="3252430" cy="25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claim tools actually used — leave placeholders for unperformed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simulations</a:t>
            </a:r>
            <a:endParaRPr sz="1000"/>
          </a:p>
        </p:txBody>
      </p:sp>
      <p:sp>
        <p:nvSpPr>
          <p:cNvPr id="394" name="Google Shape;394;p48"/>
          <p:cNvSpPr txBox="1"/>
          <p:nvPr/>
        </p:nvSpPr>
        <p:spPr>
          <a:xfrm>
            <a:off x="8613058" y="4904423"/>
            <a:ext cx="244538" cy="8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_2026-08-24_223258.png">
            <a:extLst>
              <a:ext uri="{FF2B5EF4-FFF2-40B4-BE49-F238E27FC236}">
                <a16:creationId xmlns:a16="http://schemas.microsoft.com/office/drawing/2014/main" id="{B88C4222-D12B-24C9-5034-BBA0EAD545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82"/>
          <a:stretch>
            <a:fillRect/>
          </a:stretch>
        </p:blipFill>
        <p:spPr>
          <a:xfrm>
            <a:off x="340551" y="1281848"/>
            <a:ext cx="4160795" cy="22134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22">
            <a:extLst>
              <a:ext uri="{FF2B5EF4-FFF2-40B4-BE49-F238E27FC236}">
                <a16:creationId xmlns:a16="http://schemas.microsoft.com/office/drawing/2014/main" id="{0415D69D-33CB-6D42-A916-6074B49F08A8}"/>
              </a:ext>
            </a:extLst>
          </p:cNvPr>
          <p:cNvSpPr txBox="1"/>
          <p:nvPr/>
        </p:nvSpPr>
        <p:spPr>
          <a:xfrm>
            <a:off x="891343" y="4121890"/>
            <a:ext cx="3060780" cy="149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38D97"/>
                </a:solidFill>
                <a:latin typeface="Calibri Light"/>
              </a:rPr>
              <a:t>Packet Tracer — Model A (all pings successful)</a:t>
            </a:r>
            <a:endParaRPr lang="en-US" sz="900" b="1" i="0">
              <a:solidFill>
                <a:srgbClr val="838D97"/>
              </a:solidFill>
              <a:latin typeface="Calibri Light"/>
              <a:ea typeface="Calibri Light"/>
              <a:cs typeface="Calibri Light"/>
            </a:endParaRPr>
          </a:p>
        </p:txBody>
      </p:sp>
      <p:pic>
        <p:nvPicPr>
          <p:cNvPr id="7" name="Picture 6" descr="Screenshot_2026-08-24_231218.png">
            <a:extLst>
              <a:ext uri="{FF2B5EF4-FFF2-40B4-BE49-F238E27FC236}">
                <a16:creationId xmlns:a16="http://schemas.microsoft.com/office/drawing/2014/main" id="{F505B58F-1D8A-C834-7E15-E04F11F49C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92"/>
          <a:stretch>
            <a:fillRect/>
          </a:stretch>
        </p:blipFill>
        <p:spPr>
          <a:xfrm>
            <a:off x="4701231" y="1284869"/>
            <a:ext cx="4162169" cy="22199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24">
            <a:extLst>
              <a:ext uri="{FF2B5EF4-FFF2-40B4-BE49-F238E27FC236}">
                <a16:creationId xmlns:a16="http://schemas.microsoft.com/office/drawing/2014/main" id="{E0941901-12C0-C4A4-CF42-38E29D0D3085}"/>
              </a:ext>
            </a:extLst>
          </p:cNvPr>
          <p:cNvSpPr txBox="1"/>
          <p:nvPr/>
        </p:nvSpPr>
        <p:spPr>
          <a:xfrm>
            <a:off x="3656035" y="4121890"/>
            <a:ext cx="6258459" cy="149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38D97"/>
                </a:solidFill>
                <a:latin typeface="Calibri Light"/>
              </a:rPr>
              <a:t>Packet Tracer — Model B (traffic reaching Server1)</a:t>
            </a:r>
            <a:endParaRPr lang="en-US" sz="900" b="1" i="0">
              <a:solidFill>
                <a:srgbClr val="838D97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D0B6D1-9854-F63C-D3CC-5B99DE184B54}"/>
              </a:ext>
            </a:extLst>
          </p:cNvPr>
          <p:cNvSpPr txBox="1"/>
          <p:nvPr/>
        </p:nvSpPr>
        <p:spPr>
          <a:xfrm>
            <a:off x="514350" y="300038"/>
            <a:ext cx="750000" cy="20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1275" b="1" i="0">
                <a:solidFill>
                  <a:srgbClr val="0E5D84"/>
                </a:solidFill>
                <a:latin typeface="Georgia"/>
              </a:rPr>
              <a:t>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4EFD90-B223-62DB-2634-60992F3682D6}"/>
              </a:ext>
            </a:extLst>
          </p:cNvPr>
          <p:cNvSpPr txBox="1"/>
          <p:nvPr/>
        </p:nvSpPr>
        <p:spPr>
          <a:xfrm>
            <a:off x="514350" y="517500"/>
            <a:ext cx="8115300" cy="3045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1875" b="1" i="0">
                <a:solidFill>
                  <a:srgbClr val="22283A"/>
                </a:solidFill>
                <a:latin typeface="Georgia"/>
              </a:rPr>
              <a:t>Experimental Design &amp; Simulation Method</a:t>
            </a: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029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4350" y="300038"/>
            <a:ext cx="750000" cy="324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lang="en-US" sz="2000" b="1">
                <a:solidFill>
                  <a:srgbClr val="0E5D84"/>
                </a:solidFill>
                <a:latin typeface="Georgia"/>
              </a:rPr>
              <a:t>01</a:t>
            </a:r>
            <a:endParaRPr lang="en-US" sz="2000" b="1" i="0">
              <a:solidFill>
                <a:srgbClr val="0E5D84"/>
              </a:solidFill>
              <a:latin typeface="Georg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4350" y="832558"/>
            <a:ext cx="8115300" cy="3045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1875" b="1" i="0">
                <a:solidFill>
                  <a:srgbClr val="22283A"/>
                </a:solidFill>
                <a:latin typeface="Georgia"/>
              </a:rPr>
              <a:t>Results — End-to-End Delay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1177558"/>
            <a:ext cx="8115300" cy="1562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938" b="0" i="1">
                <a:solidFill>
                  <a:srgbClr val="838D97"/>
                </a:solidFill>
                <a:latin typeface="Calibri Light"/>
              </a:rPr>
              <a:t>Average end-to-end delay (ms) by model (Packet Tracer Simulation Data)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4650" y="4918500"/>
            <a:ext cx="375000" cy="1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5000"/>
              </a:lnSpc>
            </a:pPr>
            <a:r>
              <a:rPr sz="713" b="0" i="0">
                <a:solidFill>
                  <a:srgbClr val="838D97"/>
                </a:solidFill>
                <a:latin typeface="Calibri Light"/>
              </a:rPr>
              <a:t>07 / 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546848"/>
              </p:ext>
            </p:extLst>
          </p:nvPr>
        </p:nvGraphicFramePr>
        <p:xfrm>
          <a:off x="514350" y="1477558"/>
          <a:ext cx="6515400" cy="712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67500" marR="67500" marT="37500" marB="37500" anchor="ctr">
                    <a:solidFill>
                      <a:srgbClr val="0E5D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Queue Stages</a:t>
                      </a:r>
                    </a:p>
                  </a:txBody>
                  <a:tcPr marL="67500" marR="67500" marT="37500" marB="37500" anchor="ctr">
                    <a:solidFill>
                      <a:srgbClr val="0E5D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Average E2E Delay (ms)</a:t>
                      </a:r>
                    </a:p>
                  </a:txBody>
                  <a:tcPr marL="67500" marR="67500" marT="37500" marB="37500" anchor="ctr">
                    <a:solidFill>
                      <a:srgbClr val="0E5D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5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83A"/>
                          </a:solidFill>
                          <a:latin typeface="Calibri"/>
                        </a:rPr>
                        <a:t>Single Queue (Baseline)</a:t>
                      </a:r>
                    </a:p>
                  </a:txBody>
                  <a:tcPr marL="67500" marR="67500" marT="37500" marB="375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83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500" marR="67500" marT="37500" marB="375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E5D84"/>
                          </a:solidFill>
                          <a:latin typeface="Calibri"/>
                        </a:rPr>
                        <a:t>1.5 ms</a:t>
                      </a:r>
                    </a:p>
                  </a:txBody>
                  <a:tcPr marL="67500" marR="67500" marT="37500" marB="37500"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5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83A"/>
                          </a:solidFill>
                          <a:latin typeface="Calibri"/>
                        </a:rPr>
                        <a:t>Network-of-Queues (Tandem Bottleneck)</a:t>
                      </a:r>
                    </a:p>
                  </a:txBody>
                  <a:tcPr marL="67500" marR="67500" marT="37500" marB="37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8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7500" marR="67500" marT="37500" marB="37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E5D84"/>
                          </a:solidFill>
                          <a:latin typeface="Calibri"/>
                        </a:rPr>
                        <a:t>45.2 ms</a:t>
                      </a:r>
                    </a:p>
                  </a:txBody>
                  <a:tcPr marL="67500" marR="67500" marT="37500" marB="37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14350" y="2415058"/>
            <a:ext cx="3945150" cy="1537500"/>
          </a:xfrm>
          <a:prstGeom prst="roundRect">
            <a:avLst>
              <a:gd name="adj" fmla="val 4000"/>
            </a:avLst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013"/>
          </a:p>
        </p:txBody>
      </p:sp>
      <p:sp>
        <p:nvSpPr>
          <p:cNvPr id="8" name="TextBox 7"/>
          <p:cNvSpPr txBox="1"/>
          <p:nvPr/>
        </p:nvSpPr>
        <p:spPr>
          <a:xfrm>
            <a:off x="664350" y="2535058"/>
            <a:ext cx="3645150" cy="1562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938" b="1" i="0">
                <a:solidFill>
                  <a:srgbClr val="0E5D84"/>
                </a:solidFill>
                <a:latin typeface="Calibri"/>
              </a:rPr>
              <a:t>Delay Calculations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350" y="2760058"/>
            <a:ext cx="3645150" cy="131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788" b="0" i="0">
                <a:solidFill>
                  <a:srgbClr val="42454D"/>
                </a:solidFill>
                <a:latin typeface="Calibri Light"/>
              </a:rPr>
              <a:t>Delay Difference = (3-Stage − Single)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4350" y="2955058"/>
            <a:ext cx="3645150" cy="2700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013"/>
          </a:p>
        </p:txBody>
      </p:sp>
      <p:sp>
        <p:nvSpPr>
          <p:cNvPr id="11" name="TextBox 10"/>
          <p:cNvSpPr txBox="1"/>
          <p:nvPr/>
        </p:nvSpPr>
        <p:spPr>
          <a:xfrm>
            <a:off x="709350" y="3015058"/>
            <a:ext cx="3555150" cy="136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825" b="0" i="0">
                <a:solidFill>
                  <a:srgbClr val="42454D"/>
                </a:solidFill>
                <a:latin typeface="Consolas"/>
              </a:rPr>
              <a:t>= 45.2 ms - 1.5 ms = </a:t>
            </a:r>
            <a:r>
              <a:rPr sz="825" b="1" i="0">
                <a:solidFill>
                  <a:srgbClr val="0E5D84"/>
                </a:solidFill>
                <a:latin typeface="Consolas"/>
              </a:rPr>
              <a:t>43.7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350" y="3285058"/>
            <a:ext cx="3645150" cy="131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788" b="0" i="0">
                <a:solidFill>
                  <a:srgbClr val="42454D"/>
                </a:solidFill>
                <a:latin typeface="Calibri Light"/>
              </a:rPr>
              <a:t>Percentage Difference = ((3-Stage − Single) / Single) × 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4350" y="3540058"/>
            <a:ext cx="3645150" cy="2700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013"/>
          </a:p>
        </p:txBody>
      </p:sp>
      <p:sp>
        <p:nvSpPr>
          <p:cNvPr id="14" name="TextBox 13"/>
          <p:cNvSpPr txBox="1"/>
          <p:nvPr/>
        </p:nvSpPr>
        <p:spPr>
          <a:xfrm>
            <a:off x="709350" y="3600058"/>
            <a:ext cx="3555150" cy="136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825" b="0" i="0">
                <a:solidFill>
                  <a:srgbClr val="42454D"/>
                </a:solidFill>
                <a:latin typeface="Consolas"/>
              </a:rPr>
              <a:t>= (43.7 / 1.5) × 100 = </a:t>
            </a:r>
            <a:r>
              <a:rPr sz="825" b="1" i="0">
                <a:solidFill>
                  <a:srgbClr val="0E5D84"/>
                </a:solidFill>
                <a:latin typeface="Consolas"/>
              </a:rPr>
              <a:t>+2,913%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4500" y="2415058"/>
            <a:ext cx="3945150" cy="1537500"/>
          </a:xfrm>
          <a:prstGeom prst="roundRect">
            <a:avLst>
              <a:gd name="adj" fmla="val 4000"/>
            </a:avLst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013"/>
          </a:p>
        </p:txBody>
      </p:sp>
      <p:sp>
        <p:nvSpPr>
          <p:cNvPr id="16" name="TextBox 15"/>
          <p:cNvSpPr txBox="1"/>
          <p:nvPr/>
        </p:nvSpPr>
        <p:spPr>
          <a:xfrm>
            <a:off x="4834500" y="2535058"/>
            <a:ext cx="3645150" cy="1562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938" b="1" i="0">
                <a:solidFill>
                  <a:srgbClr val="0E5D84"/>
                </a:solidFill>
                <a:latin typeface="Calibri"/>
              </a:rPr>
              <a:t>What we observed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4500" y="2760058"/>
            <a:ext cx="3645150" cy="852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lvl="0">
              <a:defRPr lang="en-US"/>
            </a:defPPr>
            <a:lvl1pPr marL="0" lv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</a:pPr>
            <a:r>
              <a:rPr sz="750" b="0" i="0" dirty="0">
                <a:solidFill>
                  <a:srgbClr val="42454D"/>
                </a:solidFill>
                <a:latin typeface="Calibri Light"/>
              </a:rPr>
              <a:t>As expected, the Gigabit Single-Queue model processed traffic almost instantly. However, introducing the </a:t>
            </a:r>
            <a:r>
              <a:rPr sz="750" b="0" i="0" dirty="0" err="1">
                <a:solidFill>
                  <a:srgbClr val="42454D"/>
                </a:solidFill>
                <a:latin typeface="Calibri Light"/>
              </a:rPr>
              <a:t>64 kbps</a:t>
            </a:r>
            <a:r>
              <a:rPr sz="750" b="0" i="0" dirty="0">
                <a:solidFill>
                  <a:srgbClr val="42454D"/>
                </a:solidFill>
                <a:latin typeface="Calibri Light"/>
              </a:rPr>
              <a:t> serial link in the 3-Stage Tandem model caused a massive 2,913% increase in average end-to-end delay.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788" b="0" i="0">
                <a:solidFill>
                  <a:srgbClr val="42454D"/>
                </a:solidFill>
                <a:latin typeface="Calibri Light"/>
              </a:rPr>
              <a:t>This confirms our research question: modeling specific nodes successfully isolates and exposes local congestion that a simple single-queue abstraction completely masks.</a:t>
            </a: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71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0"/>
          <p:cNvSpPr/>
          <p:nvPr/>
        </p:nvSpPr>
        <p:spPr>
          <a:xfrm>
            <a:off x="0" y="0"/>
            <a:ext cx="913448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50"/>
          <p:cNvSpPr/>
          <p:nvPr/>
        </p:nvSpPr>
        <p:spPr>
          <a:xfrm>
            <a:off x="479560" y="1268730"/>
            <a:ext cx="2587153" cy="126873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50"/>
          <p:cNvSpPr/>
          <p:nvPr/>
        </p:nvSpPr>
        <p:spPr>
          <a:xfrm>
            <a:off x="3272239" y="1268730"/>
            <a:ext cx="2588104" cy="126873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50"/>
          <p:cNvSpPr/>
          <p:nvPr/>
        </p:nvSpPr>
        <p:spPr>
          <a:xfrm>
            <a:off x="6064917" y="1268730"/>
            <a:ext cx="2588104" cy="126873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50"/>
          <p:cNvSpPr/>
          <p:nvPr/>
        </p:nvSpPr>
        <p:spPr>
          <a:xfrm>
            <a:off x="478609" y="2708910"/>
            <a:ext cx="8173461" cy="58293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50"/>
          <p:cNvSpPr/>
          <p:nvPr/>
        </p:nvSpPr>
        <p:spPr>
          <a:xfrm>
            <a:off x="479560" y="3429000"/>
            <a:ext cx="8172509" cy="120015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50"/>
          <p:cNvSpPr txBox="1"/>
          <p:nvPr/>
        </p:nvSpPr>
        <p:spPr>
          <a:xfrm>
            <a:off x="479560" y="377190"/>
            <a:ext cx="4820765" cy="721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41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Congestion Insights, CO4 Link &amp; Conclusion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network-of-queues can be more informative · by Monish</a:t>
            </a:r>
            <a:endParaRPr sz="1000"/>
          </a:p>
        </p:txBody>
      </p:sp>
      <p:sp>
        <p:nvSpPr>
          <p:cNvPr id="419" name="Google Shape;419;p50"/>
          <p:cNvSpPr txBox="1"/>
          <p:nvPr/>
        </p:nvSpPr>
        <p:spPr>
          <a:xfrm>
            <a:off x="629899" y="1482090"/>
            <a:ext cx="2162780" cy="722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F2A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Bottleneck Localization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29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Per-stage queues reveal which device causes queuing </a:t>
            </a:r>
            <a:endParaRPr sz="1000"/>
          </a:p>
          <a:p>
            <a:pPr marL="0" marR="0" lvl="0" indent="0" algn="l" rtl="0">
              <a:lnSpc>
                <a:spcPct val="104999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delays, enabling targeted mitigation.</a:t>
            </a:r>
            <a:endParaRPr sz="1000"/>
          </a:p>
        </p:txBody>
      </p:sp>
      <p:sp>
        <p:nvSpPr>
          <p:cNvPr id="420" name="Google Shape;420;p50"/>
          <p:cNvSpPr txBox="1"/>
          <p:nvPr/>
        </p:nvSpPr>
        <p:spPr>
          <a:xfrm>
            <a:off x="3423529" y="1482090"/>
            <a:ext cx="2107592" cy="788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F2A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Per-Stage Metrics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 queue length, waiting time, and service </a:t>
            </a:r>
            <a:endParaRPr sz="1000"/>
          </a:p>
          <a:p>
            <a:pPr marL="0" marR="0" lvl="0" indent="0" algn="l" rtl="0">
              <a:lnSpc>
                <a:spcPct val="104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utilization at each device rather than only aggregate </a:t>
            </a:r>
            <a:endParaRPr sz="1000"/>
          </a:p>
          <a:p>
            <a:pPr marL="0" marR="0" lvl="0" indent="0" algn="l" rtl="0">
              <a:lnSpc>
                <a:spcPct val="104999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delay.</a:t>
            </a:r>
            <a:endParaRPr sz="1000"/>
          </a:p>
        </p:txBody>
      </p:sp>
      <p:sp>
        <p:nvSpPr>
          <p:cNvPr id="421" name="Google Shape;421;p50"/>
          <p:cNvSpPr txBox="1"/>
          <p:nvPr/>
        </p:nvSpPr>
        <p:spPr>
          <a:xfrm>
            <a:off x="6216207" y="1482090"/>
            <a:ext cx="2301700" cy="722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F2A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Management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29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Informs per-device policies: priority queuing, scheduling, </a:t>
            </a:r>
            <a:endParaRPr sz="1000"/>
          </a:p>
          <a:p>
            <a:pPr marL="0" marR="0" lvl="0" indent="0" algn="l" rtl="0">
              <a:lnSpc>
                <a:spcPct val="104999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rate-limiting where congestion actually occurs.</a:t>
            </a:r>
            <a:endParaRPr sz="1000"/>
          </a:p>
        </p:txBody>
      </p:sp>
      <p:sp>
        <p:nvSpPr>
          <p:cNvPr id="422" name="Google Shape;422;p50"/>
          <p:cNvSpPr txBox="1"/>
          <p:nvPr/>
        </p:nvSpPr>
        <p:spPr>
          <a:xfrm>
            <a:off x="650832" y="2829878"/>
            <a:ext cx="7564495" cy="147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to CO4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transport-layer QoS improvements requires identifying per-hop delay, jitter, and loss patterns so mechanisms like congestion control and RTT 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estimation can be tuned.</a:t>
            </a:r>
            <a:endParaRPr sz="1000"/>
          </a:p>
          <a:p>
            <a:pPr marL="38100" marR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(Monish)</a:t>
            </a:r>
            <a:endParaRPr sz="1000"/>
          </a:p>
          <a:p>
            <a:pPr marL="38100" marR="0" lvl="0" indent="0" algn="l" rtl="0">
              <a:lnSpc>
                <a:spcPct val="104347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Conditional on simulation: modeling every network device as an individual queue is expected to yield a more realistic description of end-to-end delay than a single-</a:t>
            </a:r>
            <a:endParaRPr sz="1000"/>
          </a:p>
          <a:p>
            <a:pPr marL="38100" marR="0" lvl="0" indent="0" algn="l" rtl="0">
              <a:lnSpc>
                <a:spcPct val="104347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abstraction — exposing where congestion develops and supporting per-device traffic management.</a:t>
            </a:r>
            <a:endParaRPr sz="1000"/>
          </a:p>
        </p:txBody>
      </p:sp>
      <p:sp>
        <p:nvSpPr>
          <p:cNvPr id="423" name="Google Shape;423;p50"/>
          <p:cNvSpPr txBox="1"/>
          <p:nvPr/>
        </p:nvSpPr>
        <p:spPr>
          <a:xfrm>
            <a:off x="8613058" y="4904423"/>
            <a:ext cx="244538" cy="8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08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1"/>
          <p:cNvSpPr/>
          <p:nvPr/>
        </p:nvSpPr>
        <p:spPr>
          <a:xfrm>
            <a:off x="0" y="0"/>
            <a:ext cx="913448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51"/>
          <p:cNvSpPr/>
          <p:nvPr/>
        </p:nvSpPr>
        <p:spPr>
          <a:xfrm>
            <a:off x="478609" y="1850707"/>
            <a:ext cx="8173461" cy="549592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51"/>
          <p:cNvSpPr/>
          <p:nvPr/>
        </p:nvSpPr>
        <p:spPr>
          <a:xfrm>
            <a:off x="478609" y="3429000"/>
            <a:ext cx="3905944" cy="126873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51"/>
          <p:cNvSpPr/>
          <p:nvPr/>
        </p:nvSpPr>
        <p:spPr>
          <a:xfrm>
            <a:off x="4555824" y="3429000"/>
            <a:ext cx="4097197" cy="1268730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2" name="Google Shape;432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754" y="2573337"/>
            <a:ext cx="1953798" cy="675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9559" y="2533650"/>
            <a:ext cx="1922048" cy="723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43363" y="2533650"/>
            <a:ext cx="1931563" cy="723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6683" y="2533650"/>
            <a:ext cx="1922048" cy="723147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51"/>
          <p:cNvSpPr txBox="1"/>
          <p:nvPr/>
        </p:nvSpPr>
        <p:spPr>
          <a:xfrm>
            <a:off x="479560" y="377190"/>
            <a:ext cx="8166174" cy="174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41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vs Priority Queuing — Problem Statement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Analyzing delay of time-sensitive packets for improved QoS  ·  by Deepak</a:t>
            </a:r>
            <a:endParaRPr sz="1000"/>
          </a:p>
          <a:p>
            <a:pPr marL="0" marR="0" lvl="0" indent="0" algn="l" rtl="0">
              <a:lnSpc>
                <a:spcPct val="103846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networks carry heterogeneous traffic (voice, video, web, file transfers, email). Voice packets are time-sensitive — excessive delay degrades perceived </a:t>
            </a:r>
            <a:endParaRPr sz="1000"/>
          </a:p>
          <a:p>
            <a:pPr marL="0" marR="0" lvl="0" indent="0" algn="l" rtl="0">
              <a:lnSpc>
                <a:spcPct val="10384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 quality. Data packets are less sensitive and can tolerate larger delay.</a:t>
            </a:r>
            <a:endParaRPr sz="1000"/>
          </a:p>
          <a:p>
            <a:pPr marL="165100" marR="0" lvl="0" indent="0" algn="l" rtl="0">
              <a:lnSpc>
                <a:spcPct val="104761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</a:t>
            </a:r>
            <a:endParaRPr sz="1000"/>
          </a:p>
          <a:p>
            <a:pPr marL="1651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"Can Priority Queuing reduce the delay experienced by time-sensitive voice packets compared with FIFO?"</a:t>
            </a:r>
            <a:endParaRPr sz="1000"/>
          </a:p>
        </p:txBody>
      </p:sp>
      <p:sp>
        <p:nvSpPr>
          <p:cNvPr id="437" name="Google Shape;437;p51"/>
          <p:cNvSpPr txBox="1"/>
          <p:nvPr/>
        </p:nvSpPr>
        <p:spPr>
          <a:xfrm>
            <a:off x="687941" y="2708910"/>
            <a:ext cx="90393" cy="15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51"/>
          <p:cNvSpPr txBox="1"/>
          <p:nvPr/>
        </p:nvSpPr>
        <p:spPr>
          <a:xfrm>
            <a:off x="2791727" y="2708910"/>
            <a:ext cx="55188" cy="15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51"/>
          <p:cNvSpPr txBox="1"/>
          <p:nvPr/>
        </p:nvSpPr>
        <p:spPr>
          <a:xfrm>
            <a:off x="4863162" y="2708910"/>
            <a:ext cx="83733" cy="15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51"/>
          <p:cNvSpPr txBox="1"/>
          <p:nvPr/>
        </p:nvSpPr>
        <p:spPr>
          <a:xfrm>
            <a:off x="6942209" y="2708910"/>
            <a:ext cx="98006" cy="15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51"/>
          <p:cNvSpPr txBox="1"/>
          <p:nvPr/>
        </p:nvSpPr>
        <p:spPr>
          <a:xfrm>
            <a:off x="588984" y="2986088"/>
            <a:ext cx="448161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51"/>
          <p:cNvSpPr txBox="1"/>
          <p:nvPr/>
        </p:nvSpPr>
        <p:spPr>
          <a:xfrm>
            <a:off x="2675643" y="2986088"/>
            <a:ext cx="510009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Intervention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51"/>
          <p:cNvSpPr txBox="1"/>
          <p:nvPr/>
        </p:nvSpPr>
        <p:spPr>
          <a:xfrm>
            <a:off x="4761350" y="2986088"/>
            <a:ext cx="493833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51"/>
          <p:cNvSpPr txBox="1"/>
          <p:nvPr/>
        </p:nvSpPr>
        <p:spPr>
          <a:xfrm>
            <a:off x="6847058" y="2986088"/>
            <a:ext cx="378701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51"/>
          <p:cNvSpPr txBox="1"/>
          <p:nvPr/>
        </p:nvSpPr>
        <p:spPr>
          <a:xfrm>
            <a:off x="588984" y="3141662"/>
            <a:ext cx="935333" cy="8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Mixed voice and data traffic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51"/>
          <p:cNvSpPr txBox="1"/>
          <p:nvPr/>
        </p:nvSpPr>
        <p:spPr>
          <a:xfrm>
            <a:off x="2675643" y="3157538"/>
            <a:ext cx="552827" cy="8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 Queuing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51"/>
          <p:cNvSpPr txBox="1"/>
          <p:nvPr/>
        </p:nvSpPr>
        <p:spPr>
          <a:xfrm>
            <a:off x="4761350" y="3157538"/>
            <a:ext cx="456724" cy="8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Queuing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51"/>
          <p:cNvSpPr txBox="1"/>
          <p:nvPr/>
        </p:nvSpPr>
        <p:spPr>
          <a:xfrm>
            <a:off x="6847058" y="3157538"/>
            <a:ext cx="1063788" cy="8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 of priority (voice) packets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51"/>
          <p:cNvSpPr txBox="1"/>
          <p:nvPr/>
        </p:nvSpPr>
        <p:spPr>
          <a:xfrm>
            <a:off x="666707" y="3587115"/>
            <a:ext cx="1617285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1 — Voice (priority)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51"/>
          <p:cNvSpPr txBox="1"/>
          <p:nvPr/>
        </p:nvSpPr>
        <p:spPr>
          <a:xfrm>
            <a:off x="4742971" y="3587115"/>
            <a:ext cx="158177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2 — Data (normal)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51"/>
          <p:cNvSpPr txBox="1"/>
          <p:nvPr/>
        </p:nvSpPr>
        <p:spPr>
          <a:xfrm>
            <a:off x="650832" y="3952875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51"/>
          <p:cNvSpPr txBox="1"/>
          <p:nvPr/>
        </p:nvSpPr>
        <p:spPr>
          <a:xfrm>
            <a:off x="907739" y="3951288"/>
            <a:ext cx="1939221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Time-sensitive; requires low latency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51"/>
          <p:cNvSpPr txBox="1"/>
          <p:nvPr/>
        </p:nvSpPr>
        <p:spPr>
          <a:xfrm>
            <a:off x="4727096" y="3952875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51"/>
          <p:cNvSpPr txBox="1"/>
          <p:nvPr/>
        </p:nvSpPr>
        <p:spPr>
          <a:xfrm>
            <a:off x="4984003" y="3998913"/>
            <a:ext cx="2581390" cy="61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 delay-sensitive (web, file transfers, background)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51"/>
          <p:cNvSpPr txBox="1"/>
          <p:nvPr/>
        </p:nvSpPr>
        <p:spPr>
          <a:xfrm>
            <a:off x="650832" y="4148138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51"/>
          <p:cNvSpPr txBox="1"/>
          <p:nvPr/>
        </p:nvSpPr>
        <p:spPr>
          <a:xfrm>
            <a:off x="907739" y="4146550"/>
            <a:ext cx="2047845" cy="10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packets, steady inter-arrival for calls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51"/>
          <p:cNvSpPr txBox="1"/>
          <p:nvPr/>
        </p:nvSpPr>
        <p:spPr>
          <a:xfrm>
            <a:off x="4727096" y="4148138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51"/>
          <p:cNvSpPr txBox="1"/>
          <p:nvPr/>
        </p:nvSpPr>
        <p:spPr>
          <a:xfrm>
            <a:off x="4984003" y="4146550"/>
            <a:ext cx="1644730" cy="10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tolerate larger waiting times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51"/>
          <p:cNvSpPr txBox="1"/>
          <p:nvPr/>
        </p:nvSpPr>
        <p:spPr>
          <a:xfrm>
            <a:off x="650832" y="4343400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51"/>
          <p:cNvSpPr txBox="1"/>
          <p:nvPr/>
        </p:nvSpPr>
        <p:spPr>
          <a:xfrm>
            <a:off x="907739" y="4341813"/>
            <a:ext cx="2054106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metric: delay (ms) for voice packets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51"/>
          <p:cNvSpPr txBox="1"/>
          <p:nvPr/>
        </p:nvSpPr>
        <p:spPr>
          <a:xfrm>
            <a:off x="4727096" y="4343400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51"/>
          <p:cNvSpPr txBox="1"/>
          <p:nvPr/>
        </p:nvSpPr>
        <p:spPr>
          <a:xfrm>
            <a:off x="4984003" y="4341813"/>
            <a:ext cx="3433518" cy="61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experiment focuses on priority-class delay, not aggregate queue delay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51"/>
          <p:cNvSpPr txBox="1"/>
          <p:nvPr/>
        </p:nvSpPr>
        <p:spPr>
          <a:xfrm>
            <a:off x="8613058" y="4904423"/>
            <a:ext cx="244538" cy="8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/>
        </p:nvSpPr>
        <p:spPr>
          <a:xfrm>
            <a:off x="0" y="0"/>
            <a:ext cx="913448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52"/>
          <p:cNvSpPr/>
          <p:nvPr/>
        </p:nvSpPr>
        <p:spPr>
          <a:xfrm>
            <a:off x="479560" y="2297430"/>
            <a:ext cx="616578" cy="445770"/>
          </a:xfrm>
          <a:prstGeom prst="rect">
            <a:avLst/>
          </a:prstGeom>
          <a:solidFill>
            <a:srgbClr val="F2A540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52"/>
          <p:cNvSpPr/>
          <p:nvPr/>
        </p:nvSpPr>
        <p:spPr>
          <a:xfrm>
            <a:off x="1233155" y="2297430"/>
            <a:ext cx="616578" cy="44577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52"/>
          <p:cNvSpPr/>
          <p:nvPr/>
        </p:nvSpPr>
        <p:spPr>
          <a:xfrm>
            <a:off x="1986750" y="2297430"/>
            <a:ext cx="616578" cy="44577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52"/>
          <p:cNvSpPr/>
          <p:nvPr/>
        </p:nvSpPr>
        <p:spPr>
          <a:xfrm>
            <a:off x="2740345" y="2297430"/>
            <a:ext cx="616578" cy="445770"/>
          </a:xfrm>
          <a:prstGeom prst="rect">
            <a:avLst/>
          </a:prstGeom>
          <a:solidFill>
            <a:srgbClr val="F2A540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52"/>
          <p:cNvSpPr/>
          <p:nvPr/>
        </p:nvSpPr>
        <p:spPr>
          <a:xfrm>
            <a:off x="3493940" y="2297430"/>
            <a:ext cx="616578" cy="44577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52"/>
          <p:cNvSpPr/>
          <p:nvPr/>
        </p:nvSpPr>
        <p:spPr>
          <a:xfrm>
            <a:off x="4247535" y="2297430"/>
            <a:ext cx="616578" cy="445770"/>
          </a:xfrm>
          <a:prstGeom prst="rect">
            <a:avLst/>
          </a:prstGeom>
          <a:solidFill>
            <a:srgbClr val="F2A540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52"/>
          <p:cNvSpPr/>
          <p:nvPr/>
        </p:nvSpPr>
        <p:spPr>
          <a:xfrm>
            <a:off x="478609" y="2982277"/>
            <a:ext cx="8173461" cy="618173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52"/>
          <p:cNvSpPr/>
          <p:nvPr/>
        </p:nvSpPr>
        <p:spPr>
          <a:xfrm>
            <a:off x="478609" y="3771900"/>
            <a:ext cx="8173461" cy="92583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52"/>
          <p:cNvSpPr txBox="1"/>
          <p:nvPr/>
        </p:nvSpPr>
        <p:spPr>
          <a:xfrm>
            <a:off x="479560" y="377190"/>
            <a:ext cx="5264698" cy="164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41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Queuing (First-In, First-Out)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Packets are served strictly in arrival order regardless of class</a:t>
            </a:r>
            <a:endParaRPr sz="1000"/>
          </a:p>
          <a:p>
            <a:pPr marL="0" marR="0" lvl="0" indent="0" algn="l" rtl="0">
              <a:lnSpc>
                <a:spcPct val="103846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FIFO, a voice packet arriving behind queued data must wait for those packets to be served first.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arrival:  V1 → D1 → D2 → V2 → D3 → V3</a:t>
            </a:r>
            <a:endParaRPr sz="1000"/>
          </a:p>
          <a:p>
            <a:pPr marL="0" marR="0" lvl="0" indent="0" algn="l" rtl="0">
              <a:lnSpc>
                <a:spcPct val="104347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service order</a:t>
            </a:r>
            <a:endParaRPr sz="1000"/>
          </a:p>
        </p:txBody>
      </p:sp>
      <p:sp>
        <p:nvSpPr>
          <p:cNvPr id="478" name="Google Shape;478;p52"/>
          <p:cNvSpPr txBox="1"/>
          <p:nvPr/>
        </p:nvSpPr>
        <p:spPr>
          <a:xfrm>
            <a:off x="696480" y="2520315"/>
            <a:ext cx="324662" cy="6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52"/>
          <p:cNvSpPr txBox="1"/>
          <p:nvPr/>
        </p:nvSpPr>
        <p:spPr>
          <a:xfrm>
            <a:off x="1471033" y="2520315"/>
            <a:ext cx="291635" cy="6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52"/>
          <p:cNvSpPr txBox="1"/>
          <p:nvPr/>
        </p:nvSpPr>
        <p:spPr>
          <a:xfrm>
            <a:off x="2224628" y="2520315"/>
            <a:ext cx="236073" cy="6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52"/>
          <p:cNvSpPr txBox="1"/>
          <p:nvPr/>
        </p:nvSpPr>
        <p:spPr>
          <a:xfrm>
            <a:off x="2981077" y="2520315"/>
            <a:ext cx="213538" cy="6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52"/>
          <p:cNvSpPr txBox="1"/>
          <p:nvPr/>
        </p:nvSpPr>
        <p:spPr>
          <a:xfrm>
            <a:off x="3731818" y="2520315"/>
            <a:ext cx="244010" cy="6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52"/>
          <p:cNvSpPr txBox="1"/>
          <p:nvPr/>
        </p:nvSpPr>
        <p:spPr>
          <a:xfrm>
            <a:off x="4488267" y="2520315"/>
            <a:ext cx="237350" cy="6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52"/>
          <p:cNvSpPr txBox="1"/>
          <p:nvPr/>
        </p:nvSpPr>
        <p:spPr>
          <a:xfrm>
            <a:off x="650832" y="3128010"/>
            <a:ext cx="6362739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Weakness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does not distinguish time-sensitive traffic — voice delay can increase under congestion since it is treated identically to bulk data.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Implication for QoS</a:t>
            </a:r>
            <a:endParaRPr sz="1000"/>
          </a:p>
        </p:txBody>
      </p:sp>
      <p:sp>
        <p:nvSpPr>
          <p:cNvPr id="485" name="Google Shape;485;p52"/>
          <p:cNvSpPr txBox="1"/>
          <p:nvPr/>
        </p:nvSpPr>
        <p:spPr>
          <a:xfrm>
            <a:off x="650832" y="4221480"/>
            <a:ext cx="390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1000"/>
          </a:p>
        </p:txBody>
      </p:sp>
      <p:sp>
        <p:nvSpPr>
          <p:cNvPr id="486" name="Google Shape;486;p52"/>
          <p:cNvSpPr txBox="1"/>
          <p:nvPr/>
        </p:nvSpPr>
        <p:spPr>
          <a:xfrm>
            <a:off x="860114" y="4219893"/>
            <a:ext cx="577598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light load, FIFO performs reasonably since queues rarely build up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congestion, voice packets can be trapped behind bursts of data traffic, increasing jitter and perceived call quality loss</a:t>
            </a:r>
            <a:endParaRPr sz="1000"/>
          </a:p>
        </p:txBody>
      </p:sp>
      <p:sp>
        <p:nvSpPr>
          <p:cNvPr id="487" name="Google Shape;487;p52"/>
          <p:cNvSpPr txBox="1"/>
          <p:nvPr/>
        </p:nvSpPr>
        <p:spPr>
          <a:xfrm>
            <a:off x="8613058" y="4904423"/>
            <a:ext cx="244538" cy="8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3"/>
          <p:cNvSpPr/>
          <p:nvPr/>
        </p:nvSpPr>
        <p:spPr>
          <a:xfrm>
            <a:off x="0" y="0"/>
            <a:ext cx="913448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53"/>
          <p:cNvSpPr/>
          <p:nvPr/>
        </p:nvSpPr>
        <p:spPr>
          <a:xfrm>
            <a:off x="479560" y="2297430"/>
            <a:ext cx="616578" cy="445770"/>
          </a:xfrm>
          <a:prstGeom prst="rect">
            <a:avLst/>
          </a:prstGeom>
          <a:solidFill>
            <a:srgbClr val="F2A540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53"/>
          <p:cNvSpPr/>
          <p:nvPr/>
        </p:nvSpPr>
        <p:spPr>
          <a:xfrm>
            <a:off x="1233155" y="2297430"/>
            <a:ext cx="616578" cy="445770"/>
          </a:xfrm>
          <a:prstGeom prst="rect">
            <a:avLst/>
          </a:prstGeom>
          <a:solidFill>
            <a:srgbClr val="F2A540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53"/>
          <p:cNvSpPr/>
          <p:nvPr/>
        </p:nvSpPr>
        <p:spPr>
          <a:xfrm>
            <a:off x="1986750" y="2297430"/>
            <a:ext cx="616578" cy="44577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53"/>
          <p:cNvSpPr/>
          <p:nvPr/>
        </p:nvSpPr>
        <p:spPr>
          <a:xfrm>
            <a:off x="2740345" y="2297430"/>
            <a:ext cx="616578" cy="44577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53"/>
          <p:cNvSpPr/>
          <p:nvPr/>
        </p:nvSpPr>
        <p:spPr>
          <a:xfrm>
            <a:off x="3493940" y="2297430"/>
            <a:ext cx="616578" cy="44577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53"/>
          <p:cNvSpPr/>
          <p:nvPr/>
        </p:nvSpPr>
        <p:spPr>
          <a:xfrm>
            <a:off x="478609" y="3016568"/>
            <a:ext cx="3905944" cy="1646872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53"/>
          <p:cNvSpPr/>
          <p:nvPr/>
        </p:nvSpPr>
        <p:spPr>
          <a:xfrm>
            <a:off x="4555824" y="3016568"/>
            <a:ext cx="4097197" cy="1646872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53"/>
          <p:cNvSpPr txBox="1"/>
          <p:nvPr/>
        </p:nvSpPr>
        <p:spPr>
          <a:xfrm>
            <a:off x="479560" y="377190"/>
            <a:ext cx="5995078" cy="1734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41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 Queuing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Higher-priority (voice) packets are served before lower-priority (data) packets</a:t>
            </a:r>
            <a:endParaRPr sz="1000"/>
          </a:p>
          <a:p>
            <a:pPr marL="0" marR="0" lvl="0" indent="0" algn="l" rtl="0">
              <a:lnSpc>
                <a:spcPct val="103846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 Queuing separates traffic into ranked queues; voice is served ahead of data whenever both are waiting.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arrival:  V1 → D1 → D2 → V2 → D3</a:t>
            </a:r>
            <a:endParaRPr sz="1000"/>
          </a:p>
          <a:p>
            <a:pPr marL="0" marR="0" lvl="0" indent="0" algn="l" rtl="0">
              <a:lnSpc>
                <a:spcPct val="104347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 service order (typical)</a:t>
            </a:r>
            <a:endParaRPr sz="1000"/>
          </a:p>
        </p:txBody>
      </p:sp>
      <p:sp>
        <p:nvSpPr>
          <p:cNvPr id="501" name="Google Shape;501;p53"/>
          <p:cNvSpPr txBox="1"/>
          <p:nvPr/>
        </p:nvSpPr>
        <p:spPr>
          <a:xfrm>
            <a:off x="696480" y="2520315"/>
            <a:ext cx="324662" cy="6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53"/>
          <p:cNvSpPr txBox="1"/>
          <p:nvPr/>
        </p:nvSpPr>
        <p:spPr>
          <a:xfrm>
            <a:off x="1473887" y="2520315"/>
            <a:ext cx="284975" cy="6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53"/>
          <p:cNvSpPr txBox="1"/>
          <p:nvPr/>
        </p:nvSpPr>
        <p:spPr>
          <a:xfrm>
            <a:off x="2224628" y="2520315"/>
            <a:ext cx="228135" cy="6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53"/>
          <p:cNvSpPr txBox="1"/>
          <p:nvPr/>
        </p:nvSpPr>
        <p:spPr>
          <a:xfrm>
            <a:off x="2978223" y="2520315"/>
            <a:ext cx="275760" cy="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53"/>
          <p:cNvSpPr txBox="1"/>
          <p:nvPr/>
        </p:nvSpPr>
        <p:spPr>
          <a:xfrm>
            <a:off x="3731818" y="2520315"/>
            <a:ext cx="196385" cy="6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53"/>
          <p:cNvSpPr txBox="1"/>
          <p:nvPr/>
        </p:nvSpPr>
        <p:spPr>
          <a:xfrm>
            <a:off x="666707" y="3175635"/>
            <a:ext cx="567622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53"/>
          <p:cNvSpPr txBox="1"/>
          <p:nvPr/>
        </p:nvSpPr>
        <p:spPr>
          <a:xfrm>
            <a:off x="4742971" y="3175635"/>
            <a:ext cx="549745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Trade-off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53"/>
          <p:cNvSpPr txBox="1"/>
          <p:nvPr/>
        </p:nvSpPr>
        <p:spPr>
          <a:xfrm>
            <a:off x="650832" y="3827145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53"/>
          <p:cNvSpPr txBox="1"/>
          <p:nvPr/>
        </p:nvSpPr>
        <p:spPr>
          <a:xfrm>
            <a:off x="947426" y="3825558"/>
            <a:ext cx="3282579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reduce waiting time and delay for voice packets under congestion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53"/>
          <p:cNvSpPr txBox="1"/>
          <p:nvPr/>
        </p:nvSpPr>
        <p:spPr>
          <a:xfrm>
            <a:off x="4727096" y="3827145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53"/>
          <p:cNvSpPr txBox="1"/>
          <p:nvPr/>
        </p:nvSpPr>
        <p:spPr>
          <a:xfrm>
            <a:off x="5015753" y="3841433"/>
            <a:ext cx="2914344" cy="93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Lower-priority (data) traffic may experience increased waiting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53"/>
          <p:cNvSpPr txBox="1"/>
          <p:nvPr/>
        </p:nvSpPr>
        <p:spPr>
          <a:xfrm>
            <a:off x="650832" y="4022408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53"/>
          <p:cNvSpPr txBox="1"/>
          <p:nvPr/>
        </p:nvSpPr>
        <p:spPr>
          <a:xfrm>
            <a:off x="947426" y="4020820"/>
            <a:ext cx="3163690" cy="117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 quality (jitter, perceived clarity) should improve as load rises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53"/>
          <p:cNvSpPr txBox="1"/>
          <p:nvPr/>
        </p:nvSpPr>
        <p:spPr>
          <a:xfrm>
            <a:off x="4727096" y="4022408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53"/>
          <p:cNvSpPr txBox="1"/>
          <p:nvPr/>
        </p:nvSpPr>
        <p:spPr>
          <a:xfrm>
            <a:off x="5015753" y="4020820"/>
            <a:ext cx="2563838" cy="117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of data starvation if voice traffic is heavy or bursty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53"/>
          <p:cNvSpPr txBox="1"/>
          <p:nvPr/>
        </p:nvSpPr>
        <p:spPr>
          <a:xfrm>
            <a:off x="8613058" y="4904423"/>
            <a:ext cx="244538" cy="8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5F78B4-BCFE-A906-0119-5E5E69F5B0FE}"/>
              </a:ext>
            </a:extLst>
          </p:cNvPr>
          <p:cNvSpPr txBox="1"/>
          <p:nvPr/>
        </p:nvSpPr>
        <p:spPr>
          <a:xfrm>
            <a:off x="424962" y="219808"/>
            <a:ext cx="455734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0" u="none" strike="noStrike" baseline="0">
                <a:solidFill>
                  <a:srgbClr val="065A82"/>
                </a:solidFill>
                <a:latin typeface="Times New Roman"/>
              </a:rPr>
              <a:t>02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473FDF-4F6A-D3FE-7ACD-BEF1BA8549EC}"/>
              </a:ext>
            </a:extLst>
          </p:cNvPr>
          <p:cNvSpPr txBox="1"/>
          <p:nvPr/>
        </p:nvSpPr>
        <p:spPr>
          <a:xfrm>
            <a:off x="424962" y="498231"/>
            <a:ext cx="4572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i="0" u="none" strike="noStrike" baseline="0">
                <a:solidFill>
                  <a:srgbClr val="17233B"/>
                </a:solidFill>
                <a:latin typeface="Times New Roman"/>
              </a:rPr>
              <a:t>Priority Queuing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45DE31-F6BA-968B-5719-4A9E8215B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904" y="1152587"/>
            <a:ext cx="7407518" cy="3387844"/>
          </a:xfrm>
          <a:prstGeom prst="rect">
            <a:avLst/>
          </a:prstGeom>
        </p:spPr>
      </p:pic>
      <p:pic>
        <p:nvPicPr>
          <p:cNvPr id="9001" name="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124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4"/>
          <p:cNvSpPr/>
          <p:nvPr/>
        </p:nvSpPr>
        <p:spPr>
          <a:xfrm>
            <a:off x="0" y="0"/>
            <a:ext cx="913448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54"/>
          <p:cNvSpPr/>
          <p:nvPr/>
        </p:nvSpPr>
        <p:spPr>
          <a:xfrm>
            <a:off x="478609" y="1268730"/>
            <a:ext cx="4002046" cy="78867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54"/>
          <p:cNvSpPr/>
          <p:nvPr/>
        </p:nvSpPr>
        <p:spPr>
          <a:xfrm>
            <a:off x="4650975" y="1268730"/>
            <a:ext cx="4002046" cy="78867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54"/>
          <p:cNvSpPr/>
          <p:nvPr/>
        </p:nvSpPr>
        <p:spPr>
          <a:xfrm>
            <a:off x="478609" y="2194560"/>
            <a:ext cx="4002046" cy="78867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54"/>
          <p:cNvSpPr/>
          <p:nvPr/>
        </p:nvSpPr>
        <p:spPr>
          <a:xfrm>
            <a:off x="4650975" y="2194560"/>
            <a:ext cx="4002046" cy="78867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54"/>
          <p:cNvSpPr/>
          <p:nvPr/>
        </p:nvSpPr>
        <p:spPr>
          <a:xfrm>
            <a:off x="438922" y="3119438"/>
            <a:ext cx="8173461" cy="1509713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54"/>
          <p:cNvSpPr txBox="1"/>
          <p:nvPr/>
        </p:nvSpPr>
        <p:spPr>
          <a:xfrm>
            <a:off x="479560" y="377190"/>
            <a:ext cx="4918349" cy="721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41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Design &amp; Simulation Methodology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Comparing Average Voice Delay under identical traffic conditions</a:t>
            </a:r>
            <a:endParaRPr sz="1000"/>
          </a:p>
        </p:txBody>
      </p:sp>
      <p:sp>
        <p:nvSpPr>
          <p:cNvPr id="528" name="Google Shape;528;p54"/>
          <p:cNvSpPr txBox="1"/>
          <p:nvPr/>
        </p:nvSpPr>
        <p:spPr>
          <a:xfrm>
            <a:off x="661649" y="1422083"/>
            <a:ext cx="369998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Setup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classes: Voice (priority) and Data (normal). Mixed arrivals simulate realistic </a:t>
            </a:r>
            <a:endParaRPr sz="1000"/>
          </a:p>
          <a:p>
            <a:pPr marL="0" marR="0" lvl="0" indent="0" algn="l" rtl="0">
              <a:lnSpc>
                <a:spcPct val="104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simultaneous flows.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Metric</a:t>
            </a:r>
            <a:endParaRPr sz="1000"/>
          </a:p>
          <a:p>
            <a:pPr marL="0" marR="0" lvl="0" indent="0" algn="l" rtl="0">
              <a:lnSpc>
                <a:spcPct val="104999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delay of priority/voice packets, in milliseconds (ms).</a:t>
            </a:r>
            <a:endParaRPr sz="1000"/>
          </a:p>
        </p:txBody>
      </p:sp>
      <p:sp>
        <p:nvSpPr>
          <p:cNvPr id="529" name="Google Shape;529;p54"/>
          <p:cNvSpPr txBox="1"/>
          <p:nvPr/>
        </p:nvSpPr>
        <p:spPr>
          <a:xfrm>
            <a:off x="4802265" y="1422083"/>
            <a:ext cx="317708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Models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A: FIFO (single queue).  Model B: Priority Queuing (two-class scheduler).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Theory Support</a:t>
            </a:r>
            <a:endParaRPr sz="1000"/>
          </a:p>
          <a:p>
            <a:pPr marL="0" marR="0" lvl="0" indent="0" algn="l" rtl="0">
              <a:lnSpc>
                <a:spcPct val="104999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with M/M/1 and M/M/c predictions to validate simulation trends.</a:t>
            </a:r>
            <a:endParaRPr sz="1000"/>
          </a:p>
        </p:txBody>
      </p:sp>
      <p:sp>
        <p:nvSpPr>
          <p:cNvPr id="530" name="Google Shape;530;p54"/>
          <p:cNvSpPr txBox="1"/>
          <p:nvPr/>
        </p:nvSpPr>
        <p:spPr>
          <a:xfrm>
            <a:off x="666707" y="3215005"/>
            <a:ext cx="2861608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 methodology (MATLAB &amp; OMNeT++)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54"/>
          <p:cNvSpPr txBox="1"/>
          <p:nvPr/>
        </p:nvSpPr>
        <p:spPr>
          <a:xfrm flipH="1">
            <a:off x="673969" y="3569018"/>
            <a:ext cx="230863" cy="827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1000"/>
          </a:p>
          <a:p>
            <a:pPr marL="0" marR="0" lvl="0" indent="0" algn="l" rtl="0">
              <a:lnSpc>
                <a:spcPct val="100869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1000"/>
          </a:p>
          <a:p>
            <a:pPr marL="0" marR="0" lvl="0" indent="0" algn="l" rtl="0">
              <a:lnSpc>
                <a:spcPct val="100869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1000"/>
          </a:p>
        </p:txBody>
      </p:sp>
      <p:sp>
        <p:nvSpPr>
          <p:cNvPr id="532" name="Google Shape;532;p54"/>
          <p:cNvSpPr txBox="1"/>
          <p:nvPr/>
        </p:nvSpPr>
        <p:spPr>
          <a:xfrm>
            <a:off x="907739" y="3566477"/>
            <a:ext cx="5238675" cy="88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packet arrivals, assign class labels, record timestamps (arrival, service start, departure)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identical traffic seeds/arrival rates for both FIFO and Priority runs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Priority Delay = sum(delays of voice packets) / count(voice packets)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OMNeT++ module idea: Traffic Generator → Classifier → (Voice Queue, Data Queue) → Server → Output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not claim use of both tools unless implemented — label pending outputs as “Expected/Illustrative”</a:t>
            </a:r>
            <a:endParaRPr sz="1000"/>
          </a:p>
        </p:txBody>
      </p:sp>
      <p:sp>
        <p:nvSpPr>
          <p:cNvPr id="533" name="Google Shape;533;p54"/>
          <p:cNvSpPr txBox="1"/>
          <p:nvPr/>
        </p:nvSpPr>
        <p:spPr>
          <a:xfrm>
            <a:off x="8613058" y="4904423"/>
            <a:ext cx="244538" cy="8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5"/>
          <p:cNvSpPr/>
          <p:nvPr/>
        </p:nvSpPr>
        <p:spPr>
          <a:xfrm>
            <a:off x="0" y="0"/>
            <a:ext cx="913448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55"/>
          <p:cNvSpPr/>
          <p:nvPr/>
        </p:nvSpPr>
        <p:spPr>
          <a:xfrm>
            <a:off x="438922" y="3223260"/>
            <a:ext cx="8173461" cy="147447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41" name="Google Shape;541;p55"/>
          <p:cNvGraphicFramePr/>
          <p:nvPr/>
        </p:nvGraphicFramePr>
        <p:xfrm>
          <a:off x="479560" y="1337310"/>
          <a:ext cx="8173425" cy="603850"/>
        </p:xfrm>
        <a:graphic>
          <a:graphicData uri="http://schemas.openxmlformats.org/drawingml/2006/table">
            <a:tbl>
              <a:tblPr>
                <a:noFill/>
                <a:tableStyleId>{F1822104-C2AD-44E3-BFA6-AD98DCF618D7}</a:tableStyleId>
              </a:tblPr>
              <a:tblGrid>
                <a:gridCol w="294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8575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Queue Method</a:t>
                      </a:r>
                      <a:endParaRPr sz="800" u="none" strike="noStrike" cap="none"/>
                    </a:p>
                  </a:txBody>
                  <a:tcPr marL="0" marR="0" marT="50475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Priority Class</a:t>
                      </a:r>
                      <a:endParaRPr sz="800" u="none" strike="noStrike" cap="none"/>
                    </a:p>
                  </a:txBody>
                  <a:tcPr marL="0" marR="0" marT="50475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Average Delay (ms)</a:t>
                      </a:r>
                      <a:endParaRPr sz="800" u="none" strike="noStrike" cap="none"/>
                    </a:p>
                  </a:txBody>
                  <a:tcPr marL="0" marR="0" marT="50475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925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95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FIFO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95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Voice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95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i="1" u="none" strike="noStrike" cap="none">
                          <a:solidFill>
                            <a:srgbClr val="5B7C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[Insert MATLAB/OMNeT++ result]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350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047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Priority Queue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047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Voice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047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i="1" u="none" strike="noStrike" cap="none">
                          <a:solidFill>
                            <a:srgbClr val="5B7C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[Insert MATLAB/OMNeT++ result]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2" name="Google Shape;542;p55"/>
          <p:cNvSpPr txBox="1"/>
          <p:nvPr/>
        </p:nvSpPr>
        <p:spPr>
          <a:xfrm>
            <a:off x="479560" y="377190"/>
            <a:ext cx="4858927" cy="721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41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— Voice Delay: FIFO vs Priority Queue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for actual simulation data</a:t>
            </a:r>
            <a:endParaRPr sz="1000"/>
          </a:p>
        </p:txBody>
      </p:sp>
      <p:sp>
        <p:nvSpPr>
          <p:cNvPr id="543" name="Google Shape;543;p55"/>
          <p:cNvSpPr txBox="1"/>
          <p:nvPr/>
        </p:nvSpPr>
        <p:spPr>
          <a:xfrm>
            <a:off x="435600" y="2260282"/>
            <a:ext cx="5945217" cy="1589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900" b="1">
                <a:solidFill>
                  <a:srgbClr val="065A82"/>
                </a:solidFill>
                <a:latin typeface="Times New Roman"/>
                <a:cs typeface="Times New Roman"/>
              </a:rPr>
              <a:t>Delay Reduction (%) = ((FIFO Delay − Priority Delay) / FIFO Delay) × 10</a:t>
            </a:r>
            <a:endParaRPr lang="en" sz="900">
              <a:latin typeface="Times New Roman"/>
              <a:cs typeface="Times New Roman"/>
            </a:endParaRPr>
          </a:p>
          <a:p>
            <a:pPr marL="165100" marR="0" lvl="0" indent="0" algn="l">
              <a:lnSpc>
                <a:spcPct val="104761"/>
              </a:lnSpc>
              <a:spcBef>
                <a:spcPts val="2700"/>
              </a:spcBef>
              <a:spcAft>
                <a:spcPts val="0"/>
              </a:spcAft>
              <a:buNone/>
            </a:pPr>
            <a:endParaRPr lang="en" sz="800" b="1" dirty="0">
              <a:solidFill>
                <a:srgbClr val="065A82"/>
              </a:solidFill>
              <a:latin typeface="Times New Roman"/>
              <a:cs typeface="Times New Roman"/>
            </a:endParaRPr>
          </a:p>
          <a:p>
            <a:pPr marL="165100" marR="0" lvl="0" indent="0" algn="l" rtl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expect to see</a:t>
            </a:r>
            <a:endParaRPr sz="1000"/>
          </a:p>
        </p:txBody>
      </p:sp>
      <p:sp>
        <p:nvSpPr>
          <p:cNvPr id="544" name="Google Shape;544;p55"/>
          <p:cNvSpPr txBox="1"/>
          <p:nvPr/>
        </p:nvSpPr>
        <p:spPr>
          <a:xfrm>
            <a:off x="761956" y="3683318"/>
            <a:ext cx="46950" cy="841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1000"/>
          </a:p>
        </p:txBody>
      </p:sp>
      <p:sp>
        <p:nvSpPr>
          <p:cNvPr id="545" name="Google Shape;545;p55"/>
          <p:cNvSpPr txBox="1"/>
          <p:nvPr/>
        </p:nvSpPr>
        <p:spPr>
          <a:xfrm>
            <a:off x="907739" y="3856355"/>
            <a:ext cx="5880046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voice delay should rise as total offered load approaches server capacity, since voice queues behind data indiscriminately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 Queue voice delay should stay comparatively flat across load levels, at the cost of longer data completion times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gap between the two should widen as congestion increases — the central evidence for the research question</a:t>
            </a:r>
            <a:endParaRPr sz="1000"/>
          </a:p>
        </p:txBody>
      </p:sp>
      <p:sp>
        <p:nvSpPr>
          <p:cNvPr id="546" name="Google Shape;546;p55"/>
          <p:cNvSpPr txBox="1"/>
          <p:nvPr/>
        </p:nvSpPr>
        <p:spPr>
          <a:xfrm>
            <a:off x="8613058" y="4904423"/>
            <a:ext cx="244538" cy="8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6"/>
          <p:cNvSpPr/>
          <p:nvPr/>
        </p:nvSpPr>
        <p:spPr>
          <a:xfrm>
            <a:off x="0" y="0"/>
            <a:ext cx="913448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56"/>
          <p:cNvSpPr/>
          <p:nvPr/>
        </p:nvSpPr>
        <p:spPr>
          <a:xfrm>
            <a:off x="478609" y="1268730"/>
            <a:ext cx="3905944" cy="174879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t" anchorCtr="0">
            <a:noAutofit/>
          </a:bodyPr>
          <a:lstStyle/>
          <a:p>
            <a:r>
              <a:rPr lang="en" sz="1000" b="1">
                <a:solidFill>
                  <a:srgbClr val="065A82"/>
                </a:solidFill>
                <a:latin typeface="Times New Roman"/>
                <a:cs typeface="Times New Roman"/>
              </a:rPr>
              <a:t>Expected relationship</a:t>
            </a:r>
            <a:endParaRPr lang="en-US" sz="1000">
              <a:latin typeface="Times New Roman"/>
              <a:cs typeface="Times New Roman"/>
            </a:endParaRPr>
          </a:p>
          <a:p>
            <a:pPr marL="171450" indent="-171450">
              <a:lnSpc>
                <a:spcPct val="113043"/>
              </a:lnSpc>
              <a:spcBef>
                <a:spcPts val="3400"/>
              </a:spcBef>
              <a:buChar char="•"/>
            </a:pPr>
            <a:r>
              <a:rPr lang="en" sz="900">
                <a:solidFill>
                  <a:srgbClr val="17233B"/>
                </a:solidFill>
                <a:latin typeface="Times New Roman"/>
                <a:cs typeface="Times New Roman"/>
              </a:rPr>
              <a:t>FIFO under congestion: equal treatment → voice delayed by queued data </a:t>
            </a:r>
            <a:endParaRPr lang="en-US" sz="900">
              <a:latin typeface="Times New Roman"/>
              <a:cs typeface="Times New Roman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3" name="Google Shape;553;p56"/>
          <p:cNvSpPr/>
          <p:nvPr/>
        </p:nvSpPr>
        <p:spPr>
          <a:xfrm>
            <a:off x="4555824" y="1268730"/>
            <a:ext cx="4097197" cy="1748790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56"/>
          <p:cNvSpPr/>
          <p:nvPr/>
        </p:nvSpPr>
        <p:spPr>
          <a:xfrm>
            <a:off x="478609" y="3154680"/>
            <a:ext cx="8173461" cy="58293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56"/>
          <p:cNvSpPr/>
          <p:nvPr/>
        </p:nvSpPr>
        <p:spPr>
          <a:xfrm>
            <a:off x="479560" y="3977957"/>
            <a:ext cx="8172509" cy="78867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56"/>
          <p:cNvSpPr txBox="1"/>
          <p:nvPr/>
        </p:nvSpPr>
        <p:spPr>
          <a:xfrm>
            <a:off x="479560" y="377190"/>
            <a:ext cx="4840871" cy="396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41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QoS Analysis, CO4 Alignment &amp; Conclusion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relationship and implications  ·  by Deepak</a:t>
            </a:r>
            <a:endParaRPr sz="1000"/>
          </a:p>
        </p:txBody>
      </p:sp>
      <p:sp>
        <p:nvSpPr>
          <p:cNvPr id="558" name="Google Shape;558;p56"/>
          <p:cNvSpPr txBox="1"/>
          <p:nvPr/>
        </p:nvSpPr>
        <p:spPr>
          <a:xfrm>
            <a:off x="4742971" y="1426845"/>
            <a:ext cx="1158234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nuance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56"/>
          <p:cNvSpPr txBox="1"/>
          <p:nvPr/>
        </p:nvSpPr>
        <p:spPr>
          <a:xfrm>
            <a:off x="907739" y="2144078"/>
            <a:ext cx="2028638" cy="93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higher voice delay → degraded QoS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56"/>
          <p:cNvSpPr txBox="1"/>
          <p:nvPr/>
        </p:nvSpPr>
        <p:spPr>
          <a:xfrm>
            <a:off x="4727096" y="2129790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56"/>
          <p:cNvSpPr txBox="1"/>
          <p:nvPr/>
        </p:nvSpPr>
        <p:spPr>
          <a:xfrm>
            <a:off x="4984003" y="2144078"/>
            <a:ext cx="2774773" cy="93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 Queuing may increase delay for lower-priority data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56"/>
          <p:cNvSpPr txBox="1"/>
          <p:nvPr/>
        </p:nvSpPr>
        <p:spPr>
          <a:xfrm>
            <a:off x="539707" y="2325053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56"/>
          <p:cNvSpPr txBox="1"/>
          <p:nvPr/>
        </p:nvSpPr>
        <p:spPr>
          <a:xfrm>
            <a:off x="741052" y="2323465"/>
            <a:ext cx="3373998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 Queue: prioritizes voice → voice served sooner → lower voice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56"/>
          <p:cNvSpPr txBox="1"/>
          <p:nvPr/>
        </p:nvSpPr>
        <p:spPr>
          <a:xfrm>
            <a:off x="4727096" y="2325053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56"/>
          <p:cNvSpPr txBox="1"/>
          <p:nvPr/>
        </p:nvSpPr>
        <p:spPr>
          <a:xfrm>
            <a:off x="4984003" y="2339340"/>
            <a:ext cx="3278899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Fairness and starvation risk must be evaluated alongside voice-delay gains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56"/>
          <p:cNvSpPr txBox="1"/>
          <p:nvPr/>
        </p:nvSpPr>
        <p:spPr>
          <a:xfrm>
            <a:off x="666707" y="2572702"/>
            <a:ext cx="7494384" cy="1956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 → improved QoS for time-sensitive traffic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4761"/>
              </a:lnSpc>
              <a:spcBef>
                <a:spcPts val="560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to CO4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experiment directly supports CO4: describing transport-layer mechanisms (prioritization, scheduling, congestion management) used to improve QoS.</a:t>
            </a:r>
            <a:endParaRPr sz="1000"/>
          </a:p>
          <a:p>
            <a:pPr marL="38100" marR="0" lvl="0" indent="0" algn="l" rtl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(Deepak)</a:t>
            </a:r>
            <a:endParaRPr sz="1000"/>
          </a:p>
          <a:p>
            <a:pPr marL="38100" marR="0" lvl="0" indent="0" algn="l" rtl="0">
              <a:lnSpc>
                <a:spcPct val="104761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Priority Queuing yields lower average voice delay than FIFO under identical mixed-traffic conditions, priority scheduling supports improved QoS for time-sensitive traffic. Final </a:t>
            </a:r>
            <a:endParaRPr sz="1000"/>
          </a:p>
          <a:p>
            <a:pPr marL="38100" marR="0" lvl="0" indent="0" algn="l" rtl="0">
              <a:lnSpc>
                <a:spcPct val="104761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inference must rest on measured results.</a:t>
            </a:r>
            <a:endParaRPr sz="1000"/>
          </a:p>
        </p:txBody>
      </p:sp>
      <p:sp>
        <p:nvSpPr>
          <p:cNvPr id="567" name="Google Shape;567;p56"/>
          <p:cNvSpPr txBox="1"/>
          <p:nvPr/>
        </p:nvSpPr>
        <p:spPr>
          <a:xfrm>
            <a:off x="8613058" y="4904423"/>
            <a:ext cx="244538" cy="8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7"/>
          <p:cNvSpPr/>
          <p:nvPr/>
        </p:nvSpPr>
        <p:spPr>
          <a:xfrm>
            <a:off x="0" y="0"/>
            <a:ext cx="913448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57"/>
          <p:cNvSpPr/>
          <p:nvPr/>
        </p:nvSpPr>
        <p:spPr>
          <a:xfrm>
            <a:off x="478609" y="1884998"/>
            <a:ext cx="8173461" cy="549592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57"/>
          <p:cNvSpPr/>
          <p:nvPr/>
        </p:nvSpPr>
        <p:spPr>
          <a:xfrm>
            <a:off x="478609" y="3463290"/>
            <a:ext cx="3905944" cy="120015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57"/>
          <p:cNvSpPr/>
          <p:nvPr/>
        </p:nvSpPr>
        <p:spPr>
          <a:xfrm>
            <a:off x="4555824" y="3463290"/>
            <a:ext cx="4097197" cy="1200150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6" name="Google Shape;576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754" y="2571750"/>
            <a:ext cx="1922048" cy="723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9559" y="2571750"/>
            <a:ext cx="1922048" cy="723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5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43363" y="2571750"/>
            <a:ext cx="1931563" cy="723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5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6683" y="2571750"/>
            <a:ext cx="1922048" cy="723147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57"/>
          <p:cNvSpPr txBox="1"/>
          <p:nvPr/>
        </p:nvSpPr>
        <p:spPr>
          <a:xfrm>
            <a:off x="479560" y="377190"/>
            <a:ext cx="7956516" cy="1789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41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 of Arrival Rate on Queue Length — Problem Statement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arrival rate (λ) affects queue length at a network node  ·  by Keshav</a:t>
            </a:r>
            <a:endParaRPr sz="1000"/>
          </a:p>
          <a:p>
            <a:pPr marL="0" marR="0" lvl="0" indent="0" algn="l" rtl="0">
              <a:lnSpc>
                <a:spcPct val="103846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network node receives packets at arrival rate λ and serves them at rate μ. When λ is low (λ &lt;&lt; μ), queues remain small; as λ approaches μ, queues grow </a:t>
            </a:r>
            <a:endParaRPr sz="1000"/>
          </a:p>
          <a:p>
            <a:pPr marL="0" marR="0" lvl="0" indent="0" algn="l" rtl="0">
              <a:lnSpc>
                <a:spcPct val="10384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congestion appears.</a:t>
            </a:r>
            <a:endParaRPr sz="1000"/>
          </a:p>
          <a:p>
            <a:pPr marL="165100" marR="0" lvl="0" indent="0" algn="l" rtl="0">
              <a:lnSpc>
                <a:spcPct val="104761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</a:t>
            </a:r>
            <a:endParaRPr sz="1000"/>
          </a:p>
          <a:p>
            <a:pPr marL="1651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"As the arrival rate rises, does a high arrival rate cause queue length to grow more rapidly than a low arrival rate?"</a:t>
            </a:r>
            <a:endParaRPr sz="1000"/>
          </a:p>
        </p:txBody>
      </p:sp>
      <p:sp>
        <p:nvSpPr>
          <p:cNvPr id="581" name="Google Shape;581;p57"/>
          <p:cNvSpPr txBox="1"/>
          <p:nvPr/>
        </p:nvSpPr>
        <p:spPr>
          <a:xfrm>
            <a:off x="687941" y="2743200"/>
            <a:ext cx="90393" cy="15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57"/>
          <p:cNvSpPr txBox="1"/>
          <p:nvPr/>
        </p:nvSpPr>
        <p:spPr>
          <a:xfrm>
            <a:off x="2791727" y="2743200"/>
            <a:ext cx="55188" cy="15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57"/>
          <p:cNvSpPr txBox="1"/>
          <p:nvPr/>
        </p:nvSpPr>
        <p:spPr>
          <a:xfrm>
            <a:off x="4863162" y="2743200"/>
            <a:ext cx="83733" cy="15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57"/>
          <p:cNvSpPr txBox="1"/>
          <p:nvPr/>
        </p:nvSpPr>
        <p:spPr>
          <a:xfrm>
            <a:off x="6942209" y="2743200"/>
            <a:ext cx="98006" cy="15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57"/>
          <p:cNvSpPr txBox="1"/>
          <p:nvPr/>
        </p:nvSpPr>
        <p:spPr>
          <a:xfrm>
            <a:off x="588984" y="3020377"/>
            <a:ext cx="448161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57"/>
          <p:cNvSpPr txBox="1"/>
          <p:nvPr/>
        </p:nvSpPr>
        <p:spPr>
          <a:xfrm>
            <a:off x="2675643" y="3020377"/>
            <a:ext cx="510009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Intervention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57"/>
          <p:cNvSpPr txBox="1"/>
          <p:nvPr/>
        </p:nvSpPr>
        <p:spPr>
          <a:xfrm>
            <a:off x="4761350" y="3020377"/>
            <a:ext cx="493833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57"/>
          <p:cNvSpPr txBox="1"/>
          <p:nvPr/>
        </p:nvSpPr>
        <p:spPr>
          <a:xfrm>
            <a:off x="6847058" y="3020377"/>
            <a:ext cx="378701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57"/>
          <p:cNvSpPr txBox="1"/>
          <p:nvPr/>
        </p:nvSpPr>
        <p:spPr>
          <a:xfrm>
            <a:off x="588984" y="3191827"/>
            <a:ext cx="1160841" cy="8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traffic arriving at a queue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57"/>
          <p:cNvSpPr txBox="1"/>
          <p:nvPr/>
        </p:nvSpPr>
        <p:spPr>
          <a:xfrm>
            <a:off x="2675643" y="3191827"/>
            <a:ext cx="770722" cy="8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arrival rate (λ low)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57"/>
          <p:cNvSpPr txBox="1"/>
          <p:nvPr/>
        </p:nvSpPr>
        <p:spPr>
          <a:xfrm>
            <a:off x="4761350" y="3199765"/>
            <a:ext cx="810686" cy="8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arrival rate (λ high)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57"/>
          <p:cNvSpPr txBox="1"/>
          <p:nvPr/>
        </p:nvSpPr>
        <p:spPr>
          <a:xfrm>
            <a:off x="6847058" y="3191827"/>
            <a:ext cx="1259798" cy="8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length (average and transient)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57"/>
          <p:cNvSpPr txBox="1"/>
          <p:nvPr/>
        </p:nvSpPr>
        <p:spPr>
          <a:xfrm>
            <a:off x="666707" y="3621405"/>
            <a:ext cx="966906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 — Arrival rate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57"/>
          <p:cNvSpPr txBox="1"/>
          <p:nvPr/>
        </p:nvSpPr>
        <p:spPr>
          <a:xfrm>
            <a:off x="4742971" y="3621405"/>
            <a:ext cx="93956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μ — Service rate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57"/>
          <p:cNvSpPr txBox="1"/>
          <p:nvPr/>
        </p:nvSpPr>
        <p:spPr>
          <a:xfrm>
            <a:off x="650832" y="4050030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907739" y="4064318"/>
            <a:ext cx="1764745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Packets per unit time (packets/s)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57"/>
          <p:cNvSpPr txBox="1"/>
          <p:nvPr/>
        </p:nvSpPr>
        <p:spPr>
          <a:xfrm>
            <a:off x="4727096" y="4050030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57"/>
          <p:cNvSpPr txBox="1"/>
          <p:nvPr/>
        </p:nvSpPr>
        <p:spPr>
          <a:xfrm>
            <a:off x="5007815" y="4064318"/>
            <a:ext cx="2122990" cy="93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Packets the server can process per unit time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57"/>
          <p:cNvSpPr txBox="1"/>
          <p:nvPr/>
        </p:nvSpPr>
        <p:spPr>
          <a:xfrm>
            <a:off x="650832" y="4245293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57"/>
          <p:cNvSpPr txBox="1"/>
          <p:nvPr/>
        </p:nvSpPr>
        <p:spPr>
          <a:xfrm>
            <a:off x="907739" y="4243705"/>
            <a:ext cx="1522888" cy="77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Drives input load on the queue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57"/>
          <p:cNvSpPr txBox="1"/>
          <p:nvPr/>
        </p:nvSpPr>
        <p:spPr>
          <a:xfrm>
            <a:off x="4727096" y="4245293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57"/>
          <p:cNvSpPr txBox="1"/>
          <p:nvPr/>
        </p:nvSpPr>
        <p:spPr>
          <a:xfrm>
            <a:off x="5007815" y="4243705"/>
            <a:ext cx="1564154" cy="117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Represents processing capacity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57"/>
          <p:cNvSpPr txBox="1"/>
          <p:nvPr/>
        </p:nvSpPr>
        <p:spPr>
          <a:xfrm>
            <a:off x="8613058" y="4904423"/>
            <a:ext cx="244538" cy="8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8"/>
          <p:cNvSpPr/>
          <p:nvPr/>
        </p:nvSpPr>
        <p:spPr>
          <a:xfrm>
            <a:off x="87923" y="0"/>
            <a:ext cx="913448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58"/>
          <p:cNvSpPr/>
          <p:nvPr/>
        </p:nvSpPr>
        <p:spPr>
          <a:xfrm>
            <a:off x="479560" y="1268730"/>
            <a:ext cx="3904992" cy="198882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58"/>
          <p:cNvSpPr/>
          <p:nvPr/>
        </p:nvSpPr>
        <p:spPr>
          <a:xfrm>
            <a:off x="4555824" y="1268730"/>
            <a:ext cx="4097197" cy="1988820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58"/>
          <p:cNvSpPr/>
          <p:nvPr/>
        </p:nvSpPr>
        <p:spPr>
          <a:xfrm>
            <a:off x="478609" y="3393757"/>
            <a:ext cx="8173461" cy="686753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58"/>
          <p:cNvSpPr txBox="1"/>
          <p:nvPr/>
        </p:nvSpPr>
        <p:spPr>
          <a:xfrm>
            <a:off x="479560" y="377190"/>
            <a:ext cx="3454929" cy="721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41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M/M/1 Model &amp; M/M/c Extension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Utilization, queue growth, and multi-server behaviour</a:t>
            </a:r>
            <a:endParaRPr sz="1000"/>
          </a:p>
        </p:txBody>
      </p:sp>
      <p:sp>
        <p:nvSpPr>
          <p:cNvPr id="613" name="Google Shape;613;p58"/>
          <p:cNvSpPr txBox="1"/>
          <p:nvPr/>
        </p:nvSpPr>
        <p:spPr>
          <a:xfrm>
            <a:off x="685086" y="1475423"/>
            <a:ext cx="2029568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M/M/1 (single server)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7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Poisson arrivals · exponential service · single server</a:t>
            </a:r>
            <a:endParaRPr sz="1000"/>
          </a:p>
        </p:txBody>
      </p:sp>
      <p:sp>
        <p:nvSpPr>
          <p:cNvPr id="614" name="Google Shape;614;p58"/>
          <p:cNvSpPr txBox="1"/>
          <p:nvPr/>
        </p:nvSpPr>
        <p:spPr>
          <a:xfrm>
            <a:off x="4761350" y="1475422"/>
            <a:ext cx="3617637" cy="343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M/M/c (multi-server extension)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Generalizes M/M/1 to c parallel servers — for nodes with multiple processing channels or </a:t>
            </a:r>
            <a:endParaRPr sz="1000"/>
          </a:p>
        </p:txBody>
      </p:sp>
      <p:sp>
        <p:nvSpPr>
          <p:cNvPr id="615" name="Google Shape;615;p58"/>
          <p:cNvSpPr txBox="1"/>
          <p:nvPr/>
        </p:nvSpPr>
        <p:spPr>
          <a:xfrm>
            <a:off x="685086" y="2013585"/>
            <a:ext cx="12000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3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Utilization: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58"/>
          <p:cNvSpPr txBox="1"/>
          <p:nvPr/>
        </p:nvSpPr>
        <p:spPr>
          <a:xfrm>
            <a:off x="4761350" y="1844993"/>
            <a:ext cx="239780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58"/>
          <p:cNvSpPr txBox="1"/>
          <p:nvPr/>
        </p:nvSpPr>
        <p:spPr>
          <a:xfrm>
            <a:off x="685086" y="2248853"/>
            <a:ext cx="1453906" cy="69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34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ρ = λ / μ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4347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queue length:</a:t>
            </a:r>
            <a:endParaRPr sz="1000"/>
          </a:p>
          <a:p>
            <a:pPr marL="0" marR="0" lvl="0" indent="0" algn="l" rtl="0">
              <a:lnSpc>
                <a:spcPct val="103448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Lq = ρ² / (1 − ρ)</a:t>
            </a:r>
            <a:endParaRPr sz="1000"/>
          </a:p>
        </p:txBody>
      </p:sp>
      <p:sp>
        <p:nvSpPr>
          <p:cNvPr id="618" name="Google Shape;618;p58"/>
          <p:cNvSpPr txBox="1"/>
          <p:nvPr/>
        </p:nvSpPr>
        <p:spPr>
          <a:xfrm>
            <a:off x="4761350" y="2342198"/>
            <a:ext cx="39012" cy="524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1000"/>
          </a:p>
        </p:txBody>
      </p:sp>
      <p:sp>
        <p:nvSpPr>
          <p:cNvPr id="619" name="Google Shape;619;p58"/>
          <p:cNvSpPr txBox="1"/>
          <p:nvPr/>
        </p:nvSpPr>
        <p:spPr>
          <a:xfrm>
            <a:off x="5018258" y="2356485"/>
            <a:ext cx="1970575" cy="524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Per-server utilization: ρ_per = λ / (cμ)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Stability condition: λ &lt; cμ for a stable system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capacity margin against bursts</a:t>
            </a:r>
            <a:endParaRPr sz="1000"/>
          </a:p>
        </p:txBody>
      </p:sp>
      <p:sp>
        <p:nvSpPr>
          <p:cNvPr id="620" name="Google Shape;620;p58"/>
          <p:cNvSpPr txBox="1"/>
          <p:nvPr/>
        </p:nvSpPr>
        <p:spPr>
          <a:xfrm>
            <a:off x="650832" y="3086100"/>
            <a:ext cx="7809985" cy="912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8100" marR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ρ → 1, Lq grows nonlinearly — small increases in λ near μ cause large queue increases.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4761"/>
              </a:lnSpc>
              <a:spcBef>
                <a:spcPts val="290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idea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behavior depends strongly on the relationship between λ and μ; adding parallel servers (M/M/c) is one lever to curb queue growth without changing arrival 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load.</a:t>
            </a:r>
            <a:endParaRPr sz="1000"/>
          </a:p>
        </p:txBody>
      </p:sp>
      <p:sp>
        <p:nvSpPr>
          <p:cNvPr id="621" name="Google Shape;621;p58"/>
          <p:cNvSpPr txBox="1"/>
          <p:nvPr/>
        </p:nvSpPr>
        <p:spPr>
          <a:xfrm>
            <a:off x="8613058" y="4904423"/>
            <a:ext cx="244538" cy="8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E8E5E7-C42F-2034-52C0-5F97A50B5CCE}"/>
              </a:ext>
            </a:extLst>
          </p:cNvPr>
          <p:cNvSpPr txBox="1"/>
          <p:nvPr/>
        </p:nvSpPr>
        <p:spPr>
          <a:xfrm>
            <a:off x="351692" y="263769"/>
            <a:ext cx="4572000" cy="9361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2325"/>
              </a:lnSpc>
            </a:pPr>
            <a:r>
              <a:rPr lang="en-US" sz="1600" b="1" i="0" u="none" strike="noStrike" baseline="0">
                <a:solidFill>
                  <a:srgbClr val="065A82"/>
                </a:solidFill>
                <a:latin typeface="Times New Roman"/>
                <a:ea typeface="Segoe UI"/>
                <a:cs typeface="Segoe UI"/>
              </a:rPr>
              <a:t>03</a:t>
            </a:r>
            <a:r>
              <a:rPr lang="en-US" sz="16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2625"/>
              </a:lnSpc>
            </a:pPr>
            <a:r>
              <a:rPr lang="en-US" sz="1800" b="1" i="0" u="none" strike="noStrike" baseline="0">
                <a:solidFill>
                  <a:srgbClr val="17233B"/>
                </a:solidFill>
                <a:latin typeface="Times New Roman"/>
                <a:ea typeface="Segoe UI"/>
                <a:cs typeface="Segoe UI"/>
              </a:rPr>
              <a:t>M/M/1 Model &amp; M/M/c Extension</a:t>
            </a:r>
            <a:r>
              <a:rPr lang="en-US" sz="18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9D152F-0EC3-11B1-87AD-83F442E51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988" y="991698"/>
            <a:ext cx="6463812" cy="3797544"/>
          </a:xfrm>
          <a:prstGeom prst="rect">
            <a:avLst/>
          </a:prstGeom>
        </p:spPr>
      </p:pic>
      <p:pic>
        <p:nvPicPr>
          <p:cNvPr id="9001" name="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9576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9"/>
          <p:cNvSpPr/>
          <p:nvPr/>
        </p:nvSpPr>
        <p:spPr>
          <a:xfrm>
            <a:off x="0" y="0"/>
            <a:ext cx="913448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59"/>
          <p:cNvSpPr/>
          <p:nvPr/>
        </p:nvSpPr>
        <p:spPr>
          <a:xfrm>
            <a:off x="478609" y="1268730"/>
            <a:ext cx="4002046" cy="78867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59"/>
          <p:cNvSpPr/>
          <p:nvPr/>
        </p:nvSpPr>
        <p:spPr>
          <a:xfrm>
            <a:off x="4650975" y="1268730"/>
            <a:ext cx="4002046" cy="78867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59"/>
          <p:cNvSpPr/>
          <p:nvPr/>
        </p:nvSpPr>
        <p:spPr>
          <a:xfrm>
            <a:off x="478609" y="2194560"/>
            <a:ext cx="4002046" cy="78867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59"/>
          <p:cNvSpPr/>
          <p:nvPr/>
        </p:nvSpPr>
        <p:spPr>
          <a:xfrm>
            <a:off x="4650975" y="2194560"/>
            <a:ext cx="4002046" cy="78867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59"/>
          <p:cNvSpPr/>
          <p:nvPr/>
        </p:nvSpPr>
        <p:spPr>
          <a:xfrm>
            <a:off x="478609" y="3119438"/>
            <a:ext cx="8173461" cy="1509713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59"/>
          <p:cNvSpPr txBox="1"/>
          <p:nvPr/>
        </p:nvSpPr>
        <p:spPr>
          <a:xfrm>
            <a:off x="479560" y="377190"/>
            <a:ext cx="4918349" cy="721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41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Design &amp; Simulation Methodology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Sweep arrival rate (λ), measure resulting queue length, μ held fixed</a:t>
            </a:r>
            <a:endParaRPr sz="1000"/>
          </a:p>
        </p:txBody>
      </p:sp>
      <p:sp>
        <p:nvSpPr>
          <p:cNvPr id="633" name="Google Shape;633;p59"/>
          <p:cNvSpPr txBox="1"/>
          <p:nvPr/>
        </p:nvSpPr>
        <p:spPr>
          <a:xfrm>
            <a:off x="629899" y="1422083"/>
            <a:ext cx="2786969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 Variable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999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Arrival rate λ — sweep from low → high (λ₁ ... λ )ₙ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Dependent Variable</a:t>
            </a:r>
            <a:endParaRPr sz="1000"/>
          </a:p>
          <a:p>
            <a:pPr marL="0" marR="0" lvl="0" indent="0" algn="l" rtl="0">
              <a:lnSpc>
                <a:spcPct val="104999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queue length (Lq) — measured over the steady-state interval</a:t>
            </a:r>
            <a:endParaRPr sz="1000"/>
          </a:p>
        </p:txBody>
      </p:sp>
      <p:sp>
        <p:nvSpPr>
          <p:cNvPr id="634" name="Google Shape;634;p59"/>
          <p:cNvSpPr txBox="1"/>
          <p:nvPr/>
        </p:nvSpPr>
        <p:spPr>
          <a:xfrm>
            <a:off x="4802265" y="1422083"/>
            <a:ext cx="2256979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Controlled Variable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rate μ — held constant for the main experiment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</a:t>
            </a:r>
            <a:endParaRPr sz="1000"/>
          </a:p>
          <a:p>
            <a:pPr marL="0" marR="0" lvl="0" indent="0" algn="l" rtl="0">
              <a:lnSpc>
                <a:spcPct val="104999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λ vs High λ: rate of queue growth as λ approaches μ</a:t>
            </a:r>
            <a:endParaRPr sz="1000"/>
          </a:p>
        </p:txBody>
      </p:sp>
      <p:sp>
        <p:nvSpPr>
          <p:cNvPr id="635" name="Google Shape;635;p59"/>
          <p:cNvSpPr txBox="1"/>
          <p:nvPr/>
        </p:nvSpPr>
        <p:spPr>
          <a:xfrm>
            <a:off x="666707" y="3278505"/>
            <a:ext cx="2702982" cy="4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MATLAB / OMNeT++ simulation methodology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59"/>
          <p:cNvSpPr txBox="1"/>
          <p:nvPr/>
        </p:nvSpPr>
        <p:spPr>
          <a:xfrm>
            <a:off x="666707" y="3569018"/>
            <a:ext cx="118387" cy="89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1000"/>
          </a:p>
          <a:p>
            <a:pPr marL="0" marR="0" lvl="0" indent="0" algn="l" rtl="0">
              <a:lnSpc>
                <a:spcPct val="100869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1000"/>
          </a:p>
          <a:p>
            <a:pPr marL="0" marR="0" lvl="0" indent="0" algn="l" rtl="0">
              <a:lnSpc>
                <a:spcPct val="100869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1000"/>
          </a:p>
        </p:txBody>
      </p:sp>
      <p:sp>
        <p:nvSpPr>
          <p:cNvPr id="637" name="Google Shape;637;p59"/>
          <p:cNvSpPr txBox="1"/>
          <p:nvPr/>
        </p:nvSpPr>
        <p:spPr>
          <a:xfrm>
            <a:off x="907739" y="3566477"/>
            <a:ext cx="5231066" cy="89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service rate μ (fixed); generate a sweep of arrival rates λ (low → high)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each λ: generate Poisson arrivals, enqueue packets, serve at μ, record queue length over time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average Lq for the steady-state segment; repeat for statistical confidence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Plot λ vs Lq and compare against the theoretical M/M/1 curve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not report simulation results unless experiments have been executed — use placeholders like [Insert Result]</a:t>
            </a:r>
            <a:endParaRPr sz="1000"/>
          </a:p>
        </p:txBody>
      </p:sp>
      <p:sp>
        <p:nvSpPr>
          <p:cNvPr id="638" name="Google Shape;638;p59"/>
          <p:cNvSpPr txBox="1"/>
          <p:nvPr/>
        </p:nvSpPr>
        <p:spPr>
          <a:xfrm>
            <a:off x="8613058" y="4904423"/>
            <a:ext cx="244538" cy="8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1"/>
          <p:cNvSpPr/>
          <p:nvPr/>
        </p:nvSpPr>
        <p:spPr>
          <a:xfrm>
            <a:off x="0" y="0"/>
            <a:ext cx="913448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61"/>
          <p:cNvSpPr/>
          <p:nvPr/>
        </p:nvSpPr>
        <p:spPr>
          <a:xfrm>
            <a:off x="478609" y="1267778"/>
            <a:ext cx="3905944" cy="1372553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61"/>
          <p:cNvSpPr/>
          <p:nvPr/>
        </p:nvSpPr>
        <p:spPr>
          <a:xfrm>
            <a:off x="4555824" y="1267778"/>
            <a:ext cx="4097197" cy="1372553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61"/>
          <p:cNvSpPr/>
          <p:nvPr/>
        </p:nvSpPr>
        <p:spPr>
          <a:xfrm>
            <a:off x="478609" y="2833053"/>
            <a:ext cx="8173461" cy="65151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61"/>
          <p:cNvSpPr/>
          <p:nvPr/>
        </p:nvSpPr>
        <p:spPr>
          <a:xfrm>
            <a:off x="479560" y="3566160"/>
            <a:ext cx="8172509" cy="109728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61"/>
          <p:cNvSpPr txBox="1"/>
          <p:nvPr/>
        </p:nvSpPr>
        <p:spPr>
          <a:xfrm>
            <a:off x="479560" y="377190"/>
            <a:ext cx="5055112" cy="62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41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— Congestion, QoS, CO4 &amp; Conclusion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Theoretical relationship and transport-layer implications  ·  by Keshav</a:t>
            </a:r>
            <a:endParaRPr sz="1000"/>
          </a:p>
        </p:txBody>
      </p:sp>
      <p:sp>
        <p:nvSpPr>
          <p:cNvPr id="677" name="Google Shape;677;p61"/>
          <p:cNvSpPr txBox="1"/>
          <p:nvPr/>
        </p:nvSpPr>
        <p:spPr>
          <a:xfrm>
            <a:off x="666707" y="1426845"/>
            <a:ext cx="1475437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arrival rate (λ &lt;&lt; μ)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61"/>
          <p:cNvSpPr txBox="1"/>
          <p:nvPr/>
        </p:nvSpPr>
        <p:spPr>
          <a:xfrm>
            <a:off x="4742971" y="1426845"/>
            <a:ext cx="138747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arrival rate (λ → μ)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61"/>
          <p:cNvSpPr txBox="1"/>
          <p:nvPr/>
        </p:nvSpPr>
        <p:spPr>
          <a:xfrm>
            <a:off x="650832" y="1941195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61"/>
          <p:cNvSpPr txBox="1"/>
          <p:nvPr/>
        </p:nvSpPr>
        <p:spPr>
          <a:xfrm>
            <a:off x="907739" y="1939607"/>
            <a:ext cx="1232402" cy="10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ρ; server often idle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61"/>
          <p:cNvSpPr txBox="1"/>
          <p:nvPr/>
        </p:nvSpPr>
        <p:spPr>
          <a:xfrm>
            <a:off x="4727096" y="1941195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61"/>
          <p:cNvSpPr txBox="1"/>
          <p:nvPr/>
        </p:nvSpPr>
        <p:spPr>
          <a:xfrm>
            <a:off x="4984003" y="1955482"/>
            <a:ext cx="246523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ρ; queues grow rapidly; waiting time increases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61"/>
          <p:cNvSpPr txBox="1"/>
          <p:nvPr/>
        </p:nvSpPr>
        <p:spPr>
          <a:xfrm>
            <a:off x="650832" y="2136457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61"/>
          <p:cNvSpPr txBox="1"/>
          <p:nvPr/>
        </p:nvSpPr>
        <p:spPr>
          <a:xfrm>
            <a:off x="907739" y="2063433"/>
            <a:ext cx="2072284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queues; low waiting time; good QoS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61"/>
          <p:cNvSpPr txBox="1"/>
          <p:nvPr/>
        </p:nvSpPr>
        <p:spPr>
          <a:xfrm>
            <a:off x="4727096" y="2136457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61"/>
          <p:cNvSpPr txBox="1"/>
          <p:nvPr/>
        </p:nvSpPr>
        <p:spPr>
          <a:xfrm>
            <a:off x="4984003" y="2150745"/>
            <a:ext cx="1913382" cy="38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of buffer overflow and packet loss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61"/>
          <p:cNvSpPr txBox="1"/>
          <p:nvPr/>
        </p:nvSpPr>
        <p:spPr>
          <a:xfrm>
            <a:off x="579394" y="3104832"/>
            <a:ext cx="7991921" cy="131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 Layer Implication (CO4)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 Lq informs congestion control and queuing-discipline choices (FIFO vs Priority) to improve QoS — this load–congestion mapping is a prerequisite before 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evaluating whether Priority Queuing meaningfully improves QoS.</a:t>
            </a:r>
            <a:endParaRPr sz="1000"/>
          </a:p>
          <a:p>
            <a:pPr marL="3810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(Keshav)</a:t>
            </a:r>
            <a:endParaRPr sz="1000"/>
          </a:p>
          <a:p>
            <a:pPr marL="38100" marR="0" lvl="0" indent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Expected/theoretical: as arrival rate increases relative to service rate, average queue length increases; growth escalates sharply as λ approaches μ, indicating rising congestion </a:t>
            </a:r>
            <a:endParaRPr sz="1000"/>
          </a:p>
          <a:p>
            <a:pPr marL="3810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QoS degradation — the trigger condition that motivates comparing FIFO against Priority Queuing.</a:t>
            </a:r>
            <a:endParaRPr sz="1000"/>
          </a:p>
        </p:txBody>
      </p:sp>
      <p:sp>
        <p:nvSpPr>
          <p:cNvPr id="688" name="Google Shape;688;p61"/>
          <p:cNvSpPr txBox="1"/>
          <p:nvPr/>
        </p:nvSpPr>
        <p:spPr>
          <a:xfrm>
            <a:off x="8613058" y="4904423"/>
            <a:ext cx="244538" cy="8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/>
          <p:nvPr/>
        </p:nvSpPr>
        <p:spPr>
          <a:xfrm>
            <a:off x="0" y="0"/>
            <a:ext cx="913448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45"/>
          <p:cNvSpPr/>
          <p:nvPr/>
        </p:nvSpPr>
        <p:spPr>
          <a:xfrm>
            <a:off x="478609" y="1817370"/>
            <a:ext cx="8173461" cy="72009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45"/>
          <p:cNvSpPr/>
          <p:nvPr/>
        </p:nvSpPr>
        <p:spPr>
          <a:xfrm>
            <a:off x="399234" y="3634740"/>
            <a:ext cx="8173461" cy="106299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0" name="Google Shape;280;p45"/>
          <p:cNvPicPr preferRelativeResize="0"/>
          <p:nvPr/>
        </p:nvPicPr>
        <p:blipFill rotWithShape="1">
          <a:blip r:embed="rId2">
            <a:alphaModFix/>
          </a:blip>
          <a:srcRect t="-1099" r="412" b="1099"/>
          <a:stretch>
            <a:fillRect/>
          </a:stretch>
        </p:blipFill>
        <p:spPr>
          <a:xfrm>
            <a:off x="475754" y="2743200"/>
            <a:ext cx="1914139" cy="723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9559" y="2743200"/>
            <a:ext cx="1922048" cy="723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3363" y="2743200"/>
            <a:ext cx="1931563" cy="723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36683" y="2743200"/>
            <a:ext cx="1922048" cy="723147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5"/>
          <p:cNvSpPr txBox="1"/>
          <p:nvPr/>
        </p:nvSpPr>
        <p:spPr>
          <a:xfrm>
            <a:off x="479560" y="377190"/>
            <a:ext cx="8178289" cy="1886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41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M/M/c vs M/M/1 — Problem Statement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Comparing pooled multi-server capacity against a single fast server  ·  by Surender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traffic grows, a router can either rely on one fast server or split load across several parallel servers. Whether pooling capacity actually cuts 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waiting time is not obvious without a systematic comparison.</a:t>
            </a:r>
            <a:endParaRPr sz="1000"/>
          </a:p>
          <a:p>
            <a:pPr marL="165100" marR="0" lvl="0" indent="0" algn="l" rtl="0">
              <a:lnSpc>
                <a:spcPct val="104761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</a:t>
            </a:r>
            <a:endParaRPr sz="1000"/>
          </a:p>
          <a:p>
            <a:pPr marL="1651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“Does an M/M/c multi-server queuing model reduce average waiting time compared with an equivalent-capacity M/M/1 single-server system?”</a:t>
            </a:r>
            <a:endParaRPr sz="1000"/>
          </a:p>
        </p:txBody>
      </p:sp>
      <p:sp>
        <p:nvSpPr>
          <p:cNvPr id="285" name="Google Shape;285;p45"/>
          <p:cNvSpPr txBox="1"/>
          <p:nvPr/>
        </p:nvSpPr>
        <p:spPr>
          <a:xfrm>
            <a:off x="687941" y="2914650"/>
            <a:ext cx="90393" cy="15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5"/>
          <p:cNvSpPr txBox="1"/>
          <p:nvPr/>
        </p:nvSpPr>
        <p:spPr>
          <a:xfrm>
            <a:off x="2791727" y="2914650"/>
            <a:ext cx="55188" cy="15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5"/>
          <p:cNvSpPr txBox="1"/>
          <p:nvPr/>
        </p:nvSpPr>
        <p:spPr>
          <a:xfrm>
            <a:off x="4863162" y="2914650"/>
            <a:ext cx="83733" cy="15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5"/>
          <p:cNvSpPr txBox="1"/>
          <p:nvPr/>
        </p:nvSpPr>
        <p:spPr>
          <a:xfrm>
            <a:off x="6942209" y="2914650"/>
            <a:ext cx="98006" cy="15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5"/>
          <p:cNvSpPr txBox="1"/>
          <p:nvPr/>
        </p:nvSpPr>
        <p:spPr>
          <a:xfrm>
            <a:off x="588984" y="3168015"/>
            <a:ext cx="448161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5"/>
          <p:cNvSpPr txBox="1"/>
          <p:nvPr/>
        </p:nvSpPr>
        <p:spPr>
          <a:xfrm>
            <a:off x="2675643" y="3168015"/>
            <a:ext cx="510009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Intervention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5"/>
          <p:cNvSpPr txBox="1"/>
          <p:nvPr/>
        </p:nvSpPr>
        <p:spPr>
          <a:xfrm>
            <a:off x="4761350" y="3168015"/>
            <a:ext cx="493833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5"/>
          <p:cNvSpPr txBox="1"/>
          <p:nvPr/>
        </p:nvSpPr>
        <p:spPr>
          <a:xfrm>
            <a:off x="6847058" y="3168015"/>
            <a:ext cx="378701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5"/>
          <p:cNvSpPr txBox="1"/>
          <p:nvPr/>
        </p:nvSpPr>
        <p:spPr>
          <a:xfrm>
            <a:off x="588984" y="3289935"/>
            <a:ext cx="1542396" cy="8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Packets arriving at a network router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5"/>
          <p:cNvSpPr txBox="1"/>
          <p:nvPr/>
        </p:nvSpPr>
        <p:spPr>
          <a:xfrm>
            <a:off x="2675643" y="3297873"/>
            <a:ext cx="1532881" cy="8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Applying an M/M/c multi-server model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5"/>
          <p:cNvSpPr txBox="1"/>
          <p:nvPr/>
        </p:nvSpPr>
        <p:spPr>
          <a:xfrm>
            <a:off x="4761350" y="3305810"/>
            <a:ext cx="1559523" cy="8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 M/M/1 single-server queue of equal size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5"/>
          <p:cNvSpPr txBox="1"/>
          <p:nvPr/>
        </p:nvSpPr>
        <p:spPr>
          <a:xfrm>
            <a:off x="6847058" y="3289935"/>
            <a:ext cx="1696541" cy="8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Reduction in average waiting time (Wq) &amp; QoS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5"/>
          <p:cNvSpPr txBox="1"/>
          <p:nvPr/>
        </p:nvSpPr>
        <p:spPr>
          <a:xfrm>
            <a:off x="588984" y="3381058"/>
            <a:ext cx="1036193" cy="8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variable traffic loads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5"/>
          <p:cNvSpPr txBox="1"/>
          <p:nvPr/>
        </p:nvSpPr>
        <p:spPr>
          <a:xfrm>
            <a:off x="2675643" y="3388995"/>
            <a:ext cx="587081" cy="8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(parallel queues)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5"/>
          <p:cNvSpPr txBox="1"/>
          <p:nvPr/>
        </p:nvSpPr>
        <p:spPr>
          <a:xfrm>
            <a:off x="6213913" y="3309620"/>
            <a:ext cx="210283" cy="8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45"/>
          <p:cNvSpPr txBox="1"/>
          <p:nvPr/>
        </p:nvSpPr>
        <p:spPr>
          <a:xfrm>
            <a:off x="6847058" y="3381057"/>
            <a:ext cx="407247" cy="8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gains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5"/>
          <p:cNvSpPr txBox="1"/>
          <p:nvPr/>
        </p:nvSpPr>
        <p:spPr>
          <a:xfrm>
            <a:off x="587332" y="3729355"/>
            <a:ext cx="1204957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this matters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5"/>
          <p:cNvSpPr txBox="1"/>
          <p:nvPr/>
        </p:nvSpPr>
        <p:spPr>
          <a:xfrm flipH="1">
            <a:off x="689844" y="4039870"/>
            <a:ext cx="214988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1000"/>
          </a:p>
        </p:txBody>
      </p:sp>
      <p:sp>
        <p:nvSpPr>
          <p:cNvPr id="303" name="Google Shape;303;p45"/>
          <p:cNvSpPr txBox="1"/>
          <p:nvPr/>
        </p:nvSpPr>
        <p:spPr>
          <a:xfrm>
            <a:off x="907739" y="4054158"/>
            <a:ext cx="4272593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routers increasingly rely on multi-core hardware, not one fast processor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Pooling resources can eliminate idle-server time while packets wait elsewhere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Capacity pooling is a prerequisite for router load-balancing design (CO4)</a:t>
            </a:r>
            <a:endParaRPr sz="1000"/>
          </a:p>
        </p:txBody>
      </p:sp>
      <p:sp>
        <p:nvSpPr>
          <p:cNvPr id="304" name="Google Shape;304;p45"/>
          <p:cNvSpPr txBox="1"/>
          <p:nvPr/>
        </p:nvSpPr>
        <p:spPr>
          <a:xfrm>
            <a:off x="8613058" y="4904423"/>
            <a:ext cx="244538" cy="8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/ 25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6"/>
          <p:cNvSpPr/>
          <p:nvPr/>
        </p:nvSpPr>
        <p:spPr>
          <a:xfrm>
            <a:off x="0" y="0"/>
            <a:ext cx="913448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0" name="Google Shape;310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654" y="0"/>
            <a:ext cx="9134485" cy="513814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6"/>
          <p:cNvSpPr/>
          <p:nvPr/>
        </p:nvSpPr>
        <p:spPr>
          <a:xfrm>
            <a:off x="478609" y="2297430"/>
            <a:ext cx="3905944" cy="147447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46"/>
          <p:cNvSpPr/>
          <p:nvPr/>
        </p:nvSpPr>
        <p:spPr>
          <a:xfrm>
            <a:off x="4555824" y="2297430"/>
            <a:ext cx="4097197" cy="1474470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46"/>
          <p:cNvSpPr/>
          <p:nvPr/>
        </p:nvSpPr>
        <p:spPr>
          <a:xfrm>
            <a:off x="478609" y="3943350"/>
            <a:ext cx="8173461" cy="72009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46"/>
          <p:cNvSpPr txBox="1"/>
          <p:nvPr/>
        </p:nvSpPr>
        <p:spPr>
          <a:xfrm>
            <a:off x="479560" y="377190"/>
            <a:ext cx="3359120" cy="721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41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M/M/1 Fundamentals (Baseline)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Abstraction: a single processing unit serves one packet at a time</a:t>
            </a:r>
            <a:endParaRPr sz="1000"/>
          </a:p>
        </p:txBody>
      </p:sp>
      <p:sp>
        <p:nvSpPr>
          <p:cNvPr id="315" name="Google Shape;315;p46"/>
          <p:cNvSpPr txBox="1"/>
          <p:nvPr/>
        </p:nvSpPr>
        <p:spPr>
          <a:xfrm>
            <a:off x="1867463" y="1567815"/>
            <a:ext cx="422268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6"/>
          <p:cNvSpPr txBox="1"/>
          <p:nvPr/>
        </p:nvSpPr>
        <p:spPr>
          <a:xfrm>
            <a:off x="3630657" y="1639252"/>
            <a:ext cx="944696" cy="53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Server (μ)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46"/>
          <p:cNvSpPr txBox="1"/>
          <p:nvPr/>
        </p:nvSpPr>
        <p:spPr>
          <a:xfrm>
            <a:off x="5664332" y="1639252"/>
            <a:ext cx="749637" cy="53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6"/>
          <p:cNvSpPr txBox="1"/>
          <p:nvPr/>
        </p:nvSpPr>
        <p:spPr>
          <a:xfrm>
            <a:off x="666707" y="2455545"/>
            <a:ext cx="847742" cy="115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6"/>
          <p:cNvSpPr txBox="1"/>
          <p:nvPr/>
        </p:nvSpPr>
        <p:spPr>
          <a:xfrm>
            <a:off x="4742971" y="2455545"/>
            <a:ext cx="750613" cy="115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6"/>
          <p:cNvSpPr txBox="1"/>
          <p:nvPr/>
        </p:nvSpPr>
        <p:spPr>
          <a:xfrm>
            <a:off x="650832" y="2924175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6"/>
          <p:cNvSpPr txBox="1"/>
          <p:nvPr/>
        </p:nvSpPr>
        <p:spPr>
          <a:xfrm>
            <a:off x="907739" y="2922588"/>
            <a:ext cx="1522888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Simple, closed-form formulas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6"/>
          <p:cNvSpPr txBox="1"/>
          <p:nvPr/>
        </p:nvSpPr>
        <p:spPr>
          <a:xfrm>
            <a:off x="4727096" y="2924175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6"/>
          <p:cNvSpPr txBox="1"/>
          <p:nvPr/>
        </p:nvSpPr>
        <p:spPr>
          <a:xfrm>
            <a:off x="4984003" y="2922588"/>
            <a:ext cx="2198184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Vulnerable to head-of-line blocking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6"/>
          <p:cNvSpPr txBox="1"/>
          <p:nvPr/>
        </p:nvSpPr>
        <p:spPr>
          <a:xfrm>
            <a:off x="650832" y="3119438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6"/>
          <p:cNvSpPr txBox="1"/>
          <p:nvPr/>
        </p:nvSpPr>
        <p:spPr>
          <a:xfrm>
            <a:off x="907739" y="3117850"/>
            <a:ext cx="1298583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Well-understood baseline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6"/>
          <p:cNvSpPr txBox="1"/>
          <p:nvPr/>
        </p:nvSpPr>
        <p:spPr>
          <a:xfrm>
            <a:off x="4727096" y="3119438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6"/>
          <p:cNvSpPr txBox="1"/>
          <p:nvPr/>
        </p:nvSpPr>
        <p:spPr>
          <a:xfrm>
            <a:off x="4984003" y="3117850"/>
            <a:ext cx="1757610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resilience if the server fails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6"/>
          <p:cNvSpPr txBox="1"/>
          <p:nvPr/>
        </p:nvSpPr>
        <p:spPr>
          <a:xfrm>
            <a:off x="650832" y="3314700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6"/>
          <p:cNvSpPr txBox="1"/>
          <p:nvPr/>
        </p:nvSpPr>
        <p:spPr>
          <a:xfrm>
            <a:off x="907739" y="3313113"/>
            <a:ext cx="2511704" cy="10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Minimal parameters (just λ and μ)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46"/>
          <p:cNvSpPr txBox="1"/>
          <p:nvPr/>
        </p:nvSpPr>
        <p:spPr>
          <a:xfrm>
            <a:off x="4727096" y="3314700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6"/>
          <p:cNvSpPr txBox="1"/>
          <p:nvPr/>
        </p:nvSpPr>
        <p:spPr>
          <a:xfrm>
            <a:off x="4984003" y="3313113"/>
            <a:ext cx="2116255" cy="10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exploit parallel hardware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6"/>
          <p:cNvSpPr txBox="1"/>
          <p:nvPr/>
        </p:nvSpPr>
        <p:spPr>
          <a:xfrm>
            <a:off x="650832" y="4088130"/>
            <a:ext cx="5545394" cy="301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in this study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model provides the baseline waiting time (Wq) against which the pooled M/M/c multi-server system is compared.</a:t>
            </a:r>
            <a:endParaRPr sz="1000"/>
          </a:p>
        </p:txBody>
      </p:sp>
      <p:sp>
        <p:nvSpPr>
          <p:cNvPr id="333" name="Google Shape;333;p46"/>
          <p:cNvSpPr txBox="1"/>
          <p:nvPr/>
        </p:nvSpPr>
        <p:spPr>
          <a:xfrm>
            <a:off x="8613058" y="4904423"/>
            <a:ext cx="244538" cy="8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 / 25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7A64BE-2CB7-85F8-A0D5-291FB4A6D4A1}"/>
              </a:ext>
            </a:extLst>
          </p:cNvPr>
          <p:cNvSpPr txBox="1"/>
          <p:nvPr/>
        </p:nvSpPr>
        <p:spPr>
          <a:xfrm>
            <a:off x="424961" y="249115"/>
            <a:ext cx="4572000" cy="11028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2325"/>
              </a:lnSpc>
            </a:pPr>
            <a:r>
              <a:rPr lang="en-US" sz="1600" b="1" i="0" u="none" strike="noStrike" baseline="0">
                <a:solidFill>
                  <a:srgbClr val="065A82"/>
                </a:solidFill>
                <a:latin typeface="Times New Roman"/>
                <a:ea typeface="Segoe UI"/>
                <a:cs typeface="Segoe UI"/>
              </a:rPr>
              <a:t>04</a:t>
            </a:r>
            <a:r>
              <a:rPr lang="en-US" sz="16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2625"/>
              </a:lnSpc>
            </a:pPr>
            <a:r>
              <a:rPr lang="en-US" sz="1800" b="1" i="0" u="none" strike="noStrike" baseline="0">
                <a:solidFill>
                  <a:srgbClr val="17233B"/>
                </a:solidFill>
                <a:latin typeface="Times New Roman"/>
                <a:ea typeface="Segoe UI"/>
                <a:cs typeface="Segoe UI"/>
              </a:rPr>
              <a:t>M/M/1 Fundamentals (Baseline)</a:t>
            </a:r>
            <a:r>
              <a:rPr lang="en-US" sz="18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275"/>
              </a:lnSpc>
            </a:pPr>
            <a:r>
              <a:rPr lang="en-US" sz="900" b="0" i="1" u="none" strike="noStrike" baseline="0">
                <a:solidFill>
                  <a:srgbClr val="5B7C99"/>
                </a:solidFill>
                <a:latin typeface="Times New Roman"/>
                <a:ea typeface="Segoe UI"/>
                <a:cs typeface="Segoe UI"/>
              </a:rPr>
              <a:t>Abstraction: a single processing unit serves one packet at a time</a:t>
            </a:r>
            <a:r>
              <a:rPr lang="en-US" sz="9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303605-0E39-AA1F-F99E-CECF6FCC1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731" y="1288623"/>
            <a:ext cx="6836019" cy="3650639"/>
          </a:xfrm>
          <a:prstGeom prst="rect">
            <a:avLst/>
          </a:prstGeom>
        </p:spPr>
      </p:pic>
      <p:pic>
        <p:nvPicPr>
          <p:cNvPr id="9001" name="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8011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7"/>
          <p:cNvSpPr/>
          <p:nvPr/>
        </p:nvSpPr>
        <p:spPr>
          <a:xfrm>
            <a:off x="0" y="0"/>
            <a:ext cx="913448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9" name="Google Shape;339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34485" cy="513814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7"/>
          <p:cNvSpPr/>
          <p:nvPr/>
        </p:nvSpPr>
        <p:spPr>
          <a:xfrm>
            <a:off x="478609" y="2434590"/>
            <a:ext cx="3905944" cy="222885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47"/>
          <p:cNvSpPr/>
          <p:nvPr/>
        </p:nvSpPr>
        <p:spPr>
          <a:xfrm>
            <a:off x="4555824" y="2434590"/>
            <a:ext cx="4097197" cy="2228850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47"/>
          <p:cNvSpPr txBox="1"/>
          <p:nvPr/>
        </p:nvSpPr>
        <p:spPr>
          <a:xfrm>
            <a:off x="479560" y="377190"/>
            <a:ext cx="5741404" cy="721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41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M/M/c Parallel Processing &amp; Queuing Theory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identical servers draw from one shared queue, analyzed with Erlang-C foundations</a:t>
            </a:r>
            <a:endParaRPr sz="1000"/>
          </a:p>
        </p:txBody>
      </p:sp>
      <p:sp>
        <p:nvSpPr>
          <p:cNvPr id="343" name="Google Shape;343;p47"/>
          <p:cNvSpPr txBox="1"/>
          <p:nvPr/>
        </p:nvSpPr>
        <p:spPr>
          <a:xfrm>
            <a:off x="845891" y="1602105"/>
            <a:ext cx="373391" cy="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7"/>
          <p:cNvSpPr txBox="1"/>
          <p:nvPr/>
        </p:nvSpPr>
        <p:spPr>
          <a:xfrm>
            <a:off x="2052881" y="1586230"/>
            <a:ext cx="708644" cy="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Shared Queue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7"/>
          <p:cNvSpPr txBox="1"/>
          <p:nvPr/>
        </p:nvSpPr>
        <p:spPr>
          <a:xfrm>
            <a:off x="3534179" y="1602105"/>
            <a:ext cx="629269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S1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47"/>
          <p:cNvSpPr txBox="1"/>
          <p:nvPr/>
        </p:nvSpPr>
        <p:spPr>
          <a:xfrm>
            <a:off x="4761477" y="1363980"/>
            <a:ext cx="676895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Servers S2/S3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7"/>
          <p:cNvSpPr txBox="1"/>
          <p:nvPr/>
        </p:nvSpPr>
        <p:spPr>
          <a:xfrm>
            <a:off x="6222868" y="1554480"/>
            <a:ext cx="501445" cy="10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7"/>
          <p:cNvSpPr txBox="1"/>
          <p:nvPr/>
        </p:nvSpPr>
        <p:spPr>
          <a:xfrm>
            <a:off x="479560" y="2118360"/>
            <a:ext cx="3851708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ρ = λ / (c·μ)          Stability condition:  λ &lt; c·μ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47"/>
          <p:cNvSpPr txBox="1"/>
          <p:nvPr/>
        </p:nvSpPr>
        <p:spPr>
          <a:xfrm>
            <a:off x="666707" y="2576830"/>
            <a:ext cx="1782098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M/M/c foundation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47"/>
          <p:cNvSpPr txBox="1"/>
          <p:nvPr/>
        </p:nvSpPr>
        <p:spPr>
          <a:xfrm>
            <a:off x="4742971" y="2576830"/>
            <a:ext cx="1383391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Parallel-server notes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7"/>
          <p:cNvSpPr txBox="1"/>
          <p:nvPr/>
        </p:nvSpPr>
        <p:spPr>
          <a:xfrm>
            <a:off x="650832" y="3340418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7"/>
          <p:cNvSpPr txBox="1"/>
          <p:nvPr/>
        </p:nvSpPr>
        <p:spPr>
          <a:xfrm>
            <a:off x="907739" y="3338830"/>
            <a:ext cx="2445626" cy="117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Poisson arrivals, exponential service, c servers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7"/>
          <p:cNvSpPr txBox="1"/>
          <p:nvPr/>
        </p:nvSpPr>
        <p:spPr>
          <a:xfrm>
            <a:off x="4727096" y="3368993"/>
            <a:ext cx="39012" cy="110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8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7"/>
          <p:cNvSpPr txBox="1"/>
          <p:nvPr/>
        </p:nvSpPr>
        <p:spPr>
          <a:xfrm>
            <a:off x="4944316" y="3391217"/>
            <a:ext cx="3551204" cy="85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one server is busy with a long job, other servers stay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7"/>
          <p:cNvSpPr txBox="1"/>
          <p:nvPr/>
        </p:nvSpPr>
        <p:spPr>
          <a:xfrm>
            <a:off x="650832" y="3535680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7"/>
          <p:cNvSpPr txBox="1"/>
          <p:nvPr/>
        </p:nvSpPr>
        <p:spPr>
          <a:xfrm>
            <a:off x="907739" y="3534093"/>
            <a:ext cx="3064708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ρ = λ / (c·μ) — per-server load; stability needs λ &lt; c·μ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7"/>
          <p:cNvSpPr txBox="1"/>
          <p:nvPr/>
        </p:nvSpPr>
        <p:spPr>
          <a:xfrm>
            <a:off x="4944316" y="3529330"/>
            <a:ext cx="1998316" cy="117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available for new arrivals</a:t>
            </a:r>
            <a:endParaRPr lang="en-US"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8" name="Google Shape;358;p47"/>
          <p:cNvSpPr txBox="1"/>
          <p:nvPr/>
        </p:nvSpPr>
        <p:spPr>
          <a:xfrm>
            <a:off x="650832" y="3730943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7"/>
          <p:cNvSpPr txBox="1"/>
          <p:nvPr/>
        </p:nvSpPr>
        <p:spPr>
          <a:xfrm>
            <a:off x="907739" y="3753167"/>
            <a:ext cx="1878802" cy="85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Wait shrinks as c grows (Erlang-C)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7"/>
          <p:cNvSpPr txBox="1"/>
          <p:nvPr/>
        </p:nvSpPr>
        <p:spPr>
          <a:xfrm>
            <a:off x="4727096" y="3702368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7"/>
          <p:cNvSpPr txBox="1"/>
          <p:nvPr/>
        </p:nvSpPr>
        <p:spPr>
          <a:xfrm>
            <a:off x="4944316" y="3700780"/>
            <a:ext cx="2876407" cy="5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service-time variance better than one fast server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7"/>
          <p:cNvSpPr txBox="1"/>
          <p:nvPr/>
        </p:nvSpPr>
        <p:spPr>
          <a:xfrm>
            <a:off x="650832" y="3926205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7"/>
          <p:cNvSpPr txBox="1"/>
          <p:nvPr/>
        </p:nvSpPr>
        <p:spPr>
          <a:xfrm>
            <a:off x="907739" y="3948430"/>
            <a:ext cx="1717972" cy="7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queue feeds free servers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7"/>
          <p:cNvSpPr txBox="1"/>
          <p:nvPr/>
        </p:nvSpPr>
        <p:spPr>
          <a:xfrm>
            <a:off x="4727096" y="3897630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7"/>
          <p:cNvSpPr txBox="1"/>
          <p:nvPr/>
        </p:nvSpPr>
        <p:spPr>
          <a:xfrm>
            <a:off x="4944316" y="3927793"/>
            <a:ext cx="3364156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 capacity buffer against bursty, unpredictable traffic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47"/>
          <p:cNvSpPr txBox="1"/>
          <p:nvPr/>
        </p:nvSpPr>
        <p:spPr>
          <a:xfrm>
            <a:off x="8613058" y="4904423"/>
            <a:ext cx="244538" cy="8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 / 25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8"/>
          <p:cNvSpPr/>
          <p:nvPr/>
        </p:nvSpPr>
        <p:spPr>
          <a:xfrm>
            <a:off x="0" y="0"/>
            <a:ext cx="913448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48"/>
          <p:cNvSpPr/>
          <p:nvPr/>
        </p:nvSpPr>
        <p:spPr>
          <a:xfrm>
            <a:off x="478609" y="2502218"/>
            <a:ext cx="3905944" cy="2126932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48"/>
          <p:cNvSpPr/>
          <p:nvPr/>
        </p:nvSpPr>
        <p:spPr>
          <a:xfrm>
            <a:off x="4555824" y="2502218"/>
            <a:ext cx="4097197" cy="2126932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74" name="Google Shape;374;p48"/>
          <p:cNvGraphicFramePr/>
          <p:nvPr/>
        </p:nvGraphicFramePr>
        <p:xfrm>
          <a:off x="479560" y="1268730"/>
          <a:ext cx="8173425" cy="603850"/>
        </p:xfrm>
        <a:graphic>
          <a:graphicData uri="http://schemas.openxmlformats.org/drawingml/2006/table">
            <a:tbl>
              <a:tblPr>
                <a:noFill/>
                <a:tableStyleId>{F1822104-C2AD-44E3-BFA6-AD98DCF618D7}</a:tableStyleId>
              </a:tblPr>
              <a:tblGrid>
                <a:gridCol w="246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8575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800" u="none" strike="noStrike" cap="none"/>
                    </a:p>
                  </a:txBody>
                  <a:tcPr marL="0" marR="0" marT="50475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Servers (c)</a:t>
                      </a:r>
                      <a:endParaRPr sz="800" u="none" strike="noStrike" cap="none"/>
                    </a:p>
                  </a:txBody>
                  <a:tcPr marL="0" marR="0" marT="50475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Structure</a:t>
                      </a:r>
                      <a:endParaRPr sz="800" u="none" strike="noStrike" cap="none"/>
                    </a:p>
                  </a:txBody>
                  <a:tcPr marL="0" marR="0" marT="50475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925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95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 A — M/M/1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95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95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Traffic → Single Server → Destination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350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047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 B — M/M/c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047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047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Traffic → Shared Queue → c Servers → Destination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5" name="Google Shape;375;p48"/>
          <p:cNvSpPr txBox="1"/>
          <p:nvPr/>
        </p:nvSpPr>
        <p:spPr>
          <a:xfrm>
            <a:off x="479560" y="377190"/>
            <a:ext cx="4370280" cy="721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41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Design &amp; Simulation Method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traffic conditions, two configurations — MATLAB / OMNeT++</a:t>
            </a:r>
            <a:endParaRPr sz="1000"/>
          </a:p>
        </p:txBody>
      </p:sp>
      <p:sp>
        <p:nvSpPr>
          <p:cNvPr id="376" name="Google Shape;376;p48"/>
          <p:cNvSpPr txBox="1"/>
          <p:nvPr/>
        </p:nvSpPr>
        <p:spPr>
          <a:xfrm>
            <a:off x="479560" y="2204085"/>
            <a:ext cx="5974524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Controlled variables: λ, μ, c, packet size, simulation duration, initial conditions.  Primary metric: average waiting time Wq (ms).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8"/>
          <p:cNvSpPr txBox="1"/>
          <p:nvPr/>
        </p:nvSpPr>
        <p:spPr>
          <a:xfrm>
            <a:off x="666707" y="2661285"/>
            <a:ext cx="1621091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MATLAB implementation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8"/>
          <p:cNvSpPr txBox="1"/>
          <p:nvPr/>
        </p:nvSpPr>
        <p:spPr>
          <a:xfrm>
            <a:off x="4742971" y="2661285"/>
            <a:ext cx="1225366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OMNeT++ equivalent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8"/>
          <p:cNvSpPr txBox="1"/>
          <p:nvPr/>
        </p:nvSpPr>
        <p:spPr>
          <a:xfrm>
            <a:off x="650832" y="3288982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8"/>
          <p:cNvSpPr txBox="1"/>
          <p:nvPr/>
        </p:nvSpPr>
        <p:spPr>
          <a:xfrm>
            <a:off x="907739" y="3310255"/>
            <a:ext cx="3136396" cy="85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packet arrivals (Poisson) and service times (exponential)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8"/>
          <p:cNvSpPr txBox="1"/>
          <p:nvPr/>
        </p:nvSpPr>
        <p:spPr>
          <a:xfrm>
            <a:off x="4727096" y="3317557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8"/>
          <p:cNvSpPr txBox="1"/>
          <p:nvPr/>
        </p:nvSpPr>
        <p:spPr>
          <a:xfrm>
            <a:off x="4984003" y="3315018"/>
            <a:ext cx="3506734" cy="94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8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Modules: Traffic Generator, shared Queue, Server module,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8"/>
          <p:cNvSpPr txBox="1"/>
          <p:nvPr/>
        </p:nvSpPr>
        <p:spPr>
          <a:xfrm>
            <a:off x="650832" y="3484245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8"/>
          <p:cNvSpPr txBox="1"/>
          <p:nvPr/>
        </p:nvSpPr>
        <p:spPr>
          <a:xfrm>
            <a:off x="907739" y="3481705"/>
            <a:ext cx="2733957" cy="117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M/M/1: server processes packets one at a time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8"/>
          <p:cNvSpPr txBox="1"/>
          <p:nvPr/>
        </p:nvSpPr>
        <p:spPr>
          <a:xfrm>
            <a:off x="4984003" y="3476942"/>
            <a:ext cx="531940" cy="6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8"/>
          <p:cNvSpPr txBox="1"/>
          <p:nvPr/>
        </p:nvSpPr>
        <p:spPr>
          <a:xfrm>
            <a:off x="650832" y="3679507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8"/>
          <p:cNvSpPr txBox="1"/>
          <p:nvPr/>
        </p:nvSpPr>
        <p:spPr>
          <a:xfrm>
            <a:off x="907739" y="3700780"/>
            <a:ext cx="3374949" cy="6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M/M/c: c servers pull from a single shared queue; log which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8"/>
          <p:cNvSpPr txBox="1"/>
          <p:nvPr/>
        </p:nvSpPr>
        <p:spPr>
          <a:xfrm>
            <a:off x="4727096" y="3650932"/>
            <a:ext cx="39012" cy="1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8"/>
          <p:cNvSpPr txBox="1"/>
          <p:nvPr/>
        </p:nvSpPr>
        <p:spPr>
          <a:xfrm>
            <a:off x="4984003" y="3648393"/>
            <a:ext cx="3252430" cy="117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 queue length, wait time, and server-busy state per run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8"/>
          <p:cNvSpPr txBox="1"/>
          <p:nvPr/>
        </p:nvSpPr>
        <p:spPr>
          <a:xfrm>
            <a:off x="907739" y="3846830"/>
            <a:ext cx="2739893" cy="265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handles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packet</a:t>
            </a:r>
            <a:endParaRPr sz="1000"/>
          </a:p>
        </p:txBody>
      </p:sp>
      <p:sp>
        <p:nvSpPr>
          <p:cNvPr id="392" name="Google Shape;392;p48"/>
          <p:cNvSpPr txBox="1"/>
          <p:nvPr/>
        </p:nvSpPr>
        <p:spPr>
          <a:xfrm>
            <a:off x="4727096" y="3845243"/>
            <a:ext cx="39012" cy="110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8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8"/>
          <p:cNvSpPr txBox="1"/>
          <p:nvPr/>
        </p:nvSpPr>
        <p:spPr>
          <a:xfrm>
            <a:off x="4984003" y="3851593"/>
            <a:ext cx="3252430" cy="25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claim tools actually used — leave placeholders for unperformed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simulations</a:t>
            </a:r>
            <a:endParaRPr sz="1000"/>
          </a:p>
        </p:txBody>
      </p:sp>
      <p:sp>
        <p:nvSpPr>
          <p:cNvPr id="394" name="Google Shape;394;p48"/>
          <p:cNvSpPr txBox="1"/>
          <p:nvPr/>
        </p:nvSpPr>
        <p:spPr>
          <a:xfrm>
            <a:off x="8613058" y="4904423"/>
            <a:ext cx="244538" cy="8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 / 25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9"/>
          <p:cNvSpPr/>
          <p:nvPr/>
        </p:nvSpPr>
        <p:spPr>
          <a:xfrm>
            <a:off x="0" y="0"/>
            <a:ext cx="913448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49"/>
          <p:cNvSpPr/>
          <p:nvPr/>
        </p:nvSpPr>
        <p:spPr>
          <a:xfrm>
            <a:off x="478609" y="2571750"/>
            <a:ext cx="8173461" cy="58293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49"/>
          <p:cNvSpPr/>
          <p:nvPr/>
        </p:nvSpPr>
        <p:spPr>
          <a:xfrm>
            <a:off x="478609" y="3291840"/>
            <a:ext cx="8173461" cy="140589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02" name="Google Shape;402;p49"/>
          <p:cNvGraphicFramePr/>
          <p:nvPr/>
        </p:nvGraphicFramePr>
        <p:xfrm>
          <a:off x="479560" y="1337310"/>
          <a:ext cx="8173425" cy="603850"/>
        </p:xfrm>
        <a:graphic>
          <a:graphicData uri="http://schemas.openxmlformats.org/drawingml/2006/table">
            <a:tbl>
              <a:tblPr>
                <a:noFill/>
                <a:tableStyleId>{F1822104-C2AD-44E3-BFA6-AD98DCF618D7}</a:tableStyleId>
              </a:tblPr>
              <a:tblGrid>
                <a:gridCol w="294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8575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800" u="none" strike="noStrike" cap="none"/>
                    </a:p>
                  </a:txBody>
                  <a:tcPr marL="0" marR="0" marT="50475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Servers (c)</a:t>
                      </a:r>
                      <a:endParaRPr sz="800" u="none" strike="noStrike" cap="none"/>
                    </a:p>
                  </a:txBody>
                  <a:tcPr marL="0" marR="0" marT="50475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Average Waiting Time Wq (ms)</a:t>
                      </a:r>
                      <a:endParaRPr sz="800" u="none" strike="noStrike" cap="none"/>
                    </a:p>
                  </a:txBody>
                  <a:tcPr marL="0" marR="0" marT="50475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925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95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M/M/1 (single server)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95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95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i="1" u="none" strike="noStrike" cap="none">
                          <a:solidFill>
                            <a:srgbClr val="5B7C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[Result — Theoretical / Illustrative]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350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047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M/M/c (pooled servers)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047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1047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i="1" u="none" strike="noStrike" cap="none">
                          <a:solidFill>
                            <a:srgbClr val="5B7C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[Result — Theoretical / Illustrative]</a:t>
                      </a:r>
                      <a:endParaRPr sz="800" u="none" strike="noStrike" cap="none"/>
                    </a:p>
                  </a:txBody>
                  <a:tcPr marL="0" marR="0" marT="49550" marB="0">
                    <a:lnL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DE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3" name="Google Shape;403;p49"/>
          <p:cNvSpPr txBox="1"/>
          <p:nvPr/>
        </p:nvSpPr>
        <p:spPr>
          <a:xfrm>
            <a:off x="479560" y="377190"/>
            <a:ext cx="4121936" cy="721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41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— Waiting Time Comparison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waiting time (ms) by server configuration</a:t>
            </a:r>
            <a:endParaRPr sz="1000"/>
          </a:p>
        </p:txBody>
      </p:sp>
      <p:sp>
        <p:nvSpPr>
          <p:cNvPr id="404" name="Google Shape;404;p49"/>
          <p:cNvSpPr txBox="1"/>
          <p:nvPr/>
        </p:nvSpPr>
        <p:spPr>
          <a:xfrm>
            <a:off x="479560" y="2260282"/>
            <a:ext cx="7250497" cy="1313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Waiting-Time Reduction (%)  =  ((M/M/1 Wq − M/M/c Wq) / M/M/1 Wq) × 100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65100" marR="0" lvl="0" indent="0" algn="l" rtl="0">
              <a:lnSpc>
                <a:spcPct val="104761"/>
              </a:lnSpc>
              <a:spcBef>
                <a:spcPts val="270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</a:t>
            </a:r>
            <a:endParaRPr sz="1000"/>
          </a:p>
          <a:p>
            <a:pPr marL="1651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simulations are pending, chart and table values are labeled "Illustrative placeholder — replace with MATLAB/OMNeT++ output," never fabricated.</a:t>
            </a:r>
            <a:endParaRPr sz="1000"/>
          </a:p>
          <a:p>
            <a:pPr marL="165100" marR="0" lvl="0" indent="0" algn="l" rtl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expect to see</a:t>
            </a:r>
            <a:endParaRPr sz="1000"/>
          </a:p>
        </p:txBody>
      </p:sp>
      <p:sp>
        <p:nvSpPr>
          <p:cNvPr id="405" name="Google Shape;405;p49"/>
          <p:cNvSpPr txBox="1"/>
          <p:nvPr/>
        </p:nvSpPr>
        <p:spPr>
          <a:xfrm>
            <a:off x="650832" y="3884295"/>
            <a:ext cx="261262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 sz="1000"/>
          </a:p>
        </p:txBody>
      </p:sp>
      <p:sp>
        <p:nvSpPr>
          <p:cNvPr id="406" name="Google Shape;406;p49"/>
          <p:cNvSpPr txBox="1"/>
          <p:nvPr/>
        </p:nvSpPr>
        <p:spPr>
          <a:xfrm>
            <a:off x="907739" y="3882708"/>
            <a:ext cx="6030578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Comparing M/M/c to separate M/M/1 systems, the pooled model should reduce waiting time by ensuring no server sits idle while packets wait elsewhere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high utilization (ρ &gt; 0.8), M/M/c should buffer against bursts that would cause unbounded growth in a single M/M/1 system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servers should handle heavy-tailed service-time variance better, with fewer worst-case delays than one fast server</a:t>
            </a:r>
            <a:endParaRPr sz="1000"/>
          </a:p>
        </p:txBody>
      </p:sp>
      <p:sp>
        <p:nvSpPr>
          <p:cNvPr id="407" name="Google Shape;407;p49"/>
          <p:cNvSpPr txBox="1"/>
          <p:nvPr/>
        </p:nvSpPr>
        <p:spPr>
          <a:xfrm>
            <a:off x="8613058" y="4904423"/>
            <a:ext cx="244538" cy="8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 / 25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0"/>
          <p:cNvSpPr/>
          <p:nvPr/>
        </p:nvSpPr>
        <p:spPr>
          <a:xfrm>
            <a:off x="0" y="0"/>
            <a:ext cx="913448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50"/>
          <p:cNvSpPr/>
          <p:nvPr/>
        </p:nvSpPr>
        <p:spPr>
          <a:xfrm>
            <a:off x="479560" y="1268730"/>
            <a:ext cx="2587153" cy="126873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50"/>
          <p:cNvSpPr/>
          <p:nvPr/>
        </p:nvSpPr>
        <p:spPr>
          <a:xfrm>
            <a:off x="3272239" y="1268730"/>
            <a:ext cx="2588104" cy="126873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50"/>
          <p:cNvSpPr/>
          <p:nvPr/>
        </p:nvSpPr>
        <p:spPr>
          <a:xfrm>
            <a:off x="6064917" y="1268730"/>
            <a:ext cx="2588104" cy="126873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50"/>
          <p:cNvSpPr/>
          <p:nvPr/>
        </p:nvSpPr>
        <p:spPr>
          <a:xfrm>
            <a:off x="478609" y="2708910"/>
            <a:ext cx="8173461" cy="58293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50"/>
          <p:cNvSpPr/>
          <p:nvPr/>
        </p:nvSpPr>
        <p:spPr>
          <a:xfrm>
            <a:off x="479560" y="3429000"/>
            <a:ext cx="8172509" cy="1200150"/>
          </a:xfrm>
          <a:prstGeom prst="rect">
            <a:avLst/>
          </a:prstGeom>
          <a:solidFill>
            <a:srgbClr val="EAF1F5"/>
          </a:solidFill>
          <a:ln>
            <a:noFill/>
          </a:ln>
        </p:spPr>
        <p:txBody>
          <a:bodyPr spcFirstLastPara="1" wrap="square" lIns="68525" tIns="68525" rIns="68525" bIns="68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50"/>
          <p:cNvSpPr txBox="1"/>
          <p:nvPr/>
        </p:nvSpPr>
        <p:spPr>
          <a:xfrm>
            <a:off x="479560" y="377190"/>
            <a:ext cx="4820765" cy="721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41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Strategic Insights, CO4 Link &amp; Conclusion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pooled capacity can outperform a single fast server · by Surender</a:t>
            </a:r>
            <a:endParaRPr sz="1000"/>
          </a:p>
        </p:txBody>
      </p:sp>
      <p:sp>
        <p:nvSpPr>
          <p:cNvPr id="419" name="Google Shape;419;p50"/>
          <p:cNvSpPr txBox="1"/>
          <p:nvPr/>
        </p:nvSpPr>
        <p:spPr>
          <a:xfrm>
            <a:off x="629899" y="1482090"/>
            <a:ext cx="2162780" cy="722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F2A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Pooling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29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Combining c servers into one shared queue eliminates </a:t>
            </a:r>
            <a:endParaRPr sz="1000"/>
          </a:p>
          <a:p>
            <a:pPr marL="0" marR="0" lvl="0" indent="0" algn="l" rtl="0">
              <a:lnSpc>
                <a:spcPct val="104999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idle-server time while packets wait elsewhere.</a:t>
            </a:r>
            <a:endParaRPr sz="1000"/>
          </a:p>
        </p:txBody>
      </p:sp>
      <p:sp>
        <p:nvSpPr>
          <p:cNvPr id="420" name="Google Shape;420;p50"/>
          <p:cNvSpPr txBox="1"/>
          <p:nvPr/>
        </p:nvSpPr>
        <p:spPr>
          <a:xfrm>
            <a:off x="3423529" y="1482090"/>
            <a:ext cx="2107592" cy="788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F2A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Variance Reduction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servers absorb heavy-tailed or bursty service </a:t>
            </a:r>
            <a:endParaRPr sz="1000"/>
          </a:p>
          <a:p>
            <a:pPr marL="0" marR="0" lvl="0" indent="0" algn="l" rtl="0">
              <a:lnSpc>
                <a:spcPct val="104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demands better than a single fast processing unit </a:t>
            </a:r>
            <a:endParaRPr sz="1000"/>
          </a:p>
          <a:p>
            <a:pPr marL="0" marR="0" lvl="0" indent="0" algn="l" rtl="0">
              <a:lnSpc>
                <a:spcPct val="104999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would.</a:t>
            </a:r>
            <a:endParaRPr sz="1000"/>
          </a:p>
        </p:txBody>
      </p:sp>
      <p:sp>
        <p:nvSpPr>
          <p:cNvPr id="421" name="Google Shape;421;p50"/>
          <p:cNvSpPr txBox="1"/>
          <p:nvPr/>
        </p:nvSpPr>
        <p:spPr>
          <a:xfrm>
            <a:off x="6216207" y="1482090"/>
            <a:ext cx="2301700" cy="722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F2A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Reliability &amp; Redundancy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29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servers protect against a single point of </a:t>
            </a:r>
            <a:endParaRPr sz="1000"/>
          </a:p>
          <a:p>
            <a:pPr marL="0" marR="0" lvl="0" indent="0" algn="l" rtl="0">
              <a:lnSpc>
                <a:spcPct val="104999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failure at the router.</a:t>
            </a:r>
            <a:endParaRPr sz="1000"/>
          </a:p>
        </p:txBody>
      </p:sp>
      <p:sp>
        <p:nvSpPr>
          <p:cNvPr id="422" name="Google Shape;422;p50"/>
          <p:cNvSpPr txBox="1"/>
          <p:nvPr/>
        </p:nvSpPr>
        <p:spPr>
          <a:xfrm>
            <a:off x="650832" y="2829878"/>
            <a:ext cx="7564495" cy="147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to CO4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Parallelism is fundamental to modern multi-core router design and load-balancing protocols — connecting capacity pooling directly to transport-layer 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QoS improvements.</a:t>
            </a:r>
            <a:endParaRPr sz="1000"/>
          </a:p>
          <a:p>
            <a:pPr marL="38100" marR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(Surender)</a:t>
            </a:r>
            <a:endParaRPr sz="1000"/>
          </a:p>
          <a:p>
            <a:pPr marL="38100" marR="0" lvl="0" indent="0" algn="l" rtl="0">
              <a:lnSpc>
                <a:spcPct val="104347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Conditional on simulation: pooling capacity into c parallel servers (M/M/c) is expected to reduce average waiting time relative to an equivalent-capacity </a:t>
            </a:r>
            <a:endParaRPr sz="1000"/>
          </a:p>
          <a:p>
            <a:pPr marL="38100" marR="0" lvl="0" indent="0" algn="l" rtl="0">
              <a:lnSpc>
                <a:spcPct val="104347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1723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M/M/1 server, since the probability of system lockout falls as c grows — the key architectural lever behind modern router design.</a:t>
            </a:r>
            <a:endParaRPr sz="1000"/>
          </a:p>
        </p:txBody>
      </p:sp>
      <p:sp>
        <p:nvSpPr>
          <p:cNvPr id="423" name="Google Shape;423;p50"/>
          <p:cNvSpPr txBox="1"/>
          <p:nvPr/>
        </p:nvSpPr>
        <p:spPr>
          <a:xfrm>
            <a:off x="8613058" y="4904423"/>
            <a:ext cx="244538" cy="8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5B7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 / 25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the Four Modules Together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8229600" cy="18288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417320"/>
            <a:ext cx="3950208" cy="12984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9047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21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Single-Queue vs Network-of-Queues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75688"/>
            <a:ext cx="362102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 each device as its own queue is expected to expose per-hop delay and localize congestion that a single-queue abstraction averages away.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3950208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736592" y="149047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36592" y="1783080"/>
            <a:ext cx="3621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FIFO vs Priority Queuing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36592" y="2075688"/>
            <a:ext cx="362102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Queuing should lower average voice delay relative to FIFO under identical mixed traffic, at the cost of longer data waiting times.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2843784"/>
            <a:ext cx="3950208" cy="12984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1693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209544"/>
            <a:ext cx="3621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Arrival Rate vs Queue Length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502152"/>
            <a:ext cx="362102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λ approaches μ, queue length is expected to grow sharply and non-linearly, marking the congestion threshold that motivates active scheduling.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2843784"/>
            <a:ext cx="3950208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736592" y="291693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36592" y="3209544"/>
            <a:ext cx="3621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M/M/c vs M/M/1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36592" y="3502152"/>
            <a:ext cx="362102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 capacity into c parallel servers should reduce waiting time versus separate M/M/1 systems by eliminating server idling while packets queue.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" y="4315968"/>
            <a:ext cx="8229600" cy="566928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36168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Together, the four studies point to one conclusion: intelligent, congestion-aware queuing — whether via per-hop modeling, priority scheduling, or server pooling — consistently outperforms a naive single FIFO queue on QoS metrics, directly supporting CO4's transport-layer QoS objectives.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8229600" cy="18288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4173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L. Kleinrock, Queueing Systems, Volume 1: Theory. New York: Wiley, 1975.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81965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1965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R. Jackson, "Networks of Waiting Lines," Operations Research, vol. 5, no. 4, pp. 518–521, 1957.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22199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2219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Bertsekas and R. Gallager, Data Networks, 2nd ed. Upper Saddle River, NJ: Prentice Hall, 1992.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6243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62432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Erlang, "Solution of Some Problems in the Theory of Probabilities of Significance in Automatic Telephone Exchanges," Post Office Electrical Engineers' Journal, 1917.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02666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02666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Systems, "Quality of Service (QoS) — Congestion Management and Queuing," Cisco Networking Documentation.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3429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429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OMNeT++ Community, OMNeT++ Discrete Event Simulator, User Manual, omnetpp.org.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383133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83133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MathWorks, MATLAB Documentation — Queuing and Simulation Toolboxes, mathworks.com.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423367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2336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Tanenbaum and D. Wetherall, Computer Networks, 5th ed. Boston: Pearson, 2011.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9001" name="Colleg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37660"/>
            <a:ext cx="9144000" cy="1005840"/>
          </a:xfrm>
          <a:prstGeom prst="rect">
            <a:avLst/>
          </a:prstGeom>
          <a:solidFill>
            <a:srgbClr val="17233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7373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25146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Queuing vs FIFO — Improving QoS for Packet Networks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3662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Keshav   ·   Monish L   ·   Deepak R   ·   Surender 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46863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CSA0702 – Computer Network</a:t>
            </a:r>
            <a:endParaRPr lang="en-US" sz="1000" dirty="0"/>
          </a:p>
        </p:txBody>
      </p:sp>
      <p:sp>
        <p:nvSpPr>
          <p:cNvPr id="9001" name="Logo Badge"/>
          <p:cNvSpPr/>
          <p:nvPr/>
        </p:nvSpPr>
        <p:spPr>
          <a:xfrm>
            <a:off x="8389680" y="182880"/>
            <a:ext cx="571440" cy="5154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st="25000" dir="5400000" rotWithShape="0">
              <a:srgbClr val="000000">
                <a:alpha val="25000"/>
              </a:srgbClr>
            </a:outerShdw>
          </a:effectLst>
        </p:spPr>
      </p:sp>
      <p:pic>
        <p:nvPicPr>
          <p:cNvPr id="9002" name="Colleg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400" y="228600"/>
            <a:ext cx="480000" cy="4240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38</Slides>
  <Notes>16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Office Theme</vt:lpstr>
      <vt:lpstr>Simple Light</vt:lpstr>
      <vt:lpstr>Office Theme</vt:lpstr>
      <vt:lpstr>Office Theme</vt:lpstr>
      <vt:lpstr>For a network node under variable load (P), can a Priority Queuing model (I), rather than a single FIFO queue (C), improve QoS measures like waiting time and throughput (O)?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160</cp:revision>
  <dcterms:modified xsi:type="dcterms:W3CDTF">2026-08-28T18:38:28Z</dcterms:modified>
</cp:coreProperties>
</file>